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Norwester" charset="1" panose="00000506000000000000"/>
      <p:regular r:id="rId20"/>
    </p:embeddedFont>
    <p:embeddedFont>
      <p:font typeface="Poppins" charset="1" panose="00000500000000000000"/>
      <p:regular r:id="rId21"/>
    </p:embeddedFont>
    <p:embeddedFont>
      <p:font typeface="Poppins Bold" charset="1" panose="00000800000000000000"/>
      <p:regular r:id="rId22"/>
    </p:embeddedFont>
    <p:embeddedFont>
      <p:font typeface="Canva Sans" charset="1" panose="020B05030305010401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5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8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23.pn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2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26.pn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25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27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28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97380" y="-4558247"/>
            <a:ext cx="9158822" cy="915882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506018" y="-1386794"/>
            <a:ext cx="9158822" cy="915882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60231" y="2221058"/>
            <a:ext cx="15767537" cy="971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75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IMPROVING BIAS MITIGATION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3900200" y="4123563"/>
            <a:ext cx="18288000" cy="4344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47"/>
              </a:lnSpc>
            </a:pPr>
            <a:r>
              <a:rPr lang="en-US" sz="8799">
                <a:solidFill>
                  <a:srgbClr val="FCD35A"/>
                </a:solidFill>
                <a:latin typeface="Norwester"/>
                <a:ea typeface="Norwester"/>
                <a:cs typeface="Norwester"/>
                <a:sym typeface="Norwester"/>
              </a:rPr>
              <a:t>THROUGH</a:t>
            </a:r>
          </a:p>
          <a:p>
            <a:pPr algn="ctr">
              <a:lnSpc>
                <a:spcPts val="8447"/>
              </a:lnSpc>
            </a:pPr>
            <a:r>
              <a:rPr lang="en-US" sz="8799">
                <a:solidFill>
                  <a:srgbClr val="FCD35A"/>
                </a:solidFill>
                <a:latin typeface="Norwester"/>
                <a:ea typeface="Norwester"/>
                <a:cs typeface="Norwester"/>
                <a:sym typeface="Norwester"/>
              </a:rPr>
              <a:t> BIAS </a:t>
            </a:r>
          </a:p>
          <a:p>
            <a:pPr algn="ctr">
              <a:lnSpc>
                <a:spcPts val="8447"/>
              </a:lnSpc>
            </a:pPr>
            <a:r>
              <a:rPr lang="en-US" sz="8799">
                <a:solidFill>
                  <a:srgbClr val="FCD35A"/>
                </a:solidFill>
                <a:latin typeface="Norwester"/>
                <a:ea typeface="Norwester"/>
                <a:cs typeface="Norwester"/>
                <a:sym typeface="Norwester"/>
              </a:rPr>
              <a:t>EXPERTS IN</a:t>
            </a:r>
          </a:p>
          <a:p>
            <a:pPr algn="ctr">
              <a:lnSpc>
                <a:spcPts val="8447"/>
              </a:lnSpc>
            </a:pPr>
            <a:r>
              <a:rPr lang="en-US" sz="8799">
                <a:solidFill>
                  <a:srgbClr val="FCD35A"/>
                </a:solidFill>
                <a:latin typeface="Norwester"/>
                <a:ea typeface="Norwester"/>
                <a:cs typeface="Norwester"/>
                <a:sym typeface="Norwester"/>
              </a:rPr>
              <a:t>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0" y="5503406"/>
            <a:ext cx="18288000" cy="2501911"/>
            <a:chOff x="0" y="0"/>
            <a:chExt cx="4212213" cy="5762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12213" cy="576257"/>
            </a:xfrm>
            <a:custGeom>
              <a:avLst/>
              <a:gdLst/>
              <a:ahLst/>
              <a:cxnLst/>
              <a:rect r="r" b="b" t="t" l="l"/>
              <a:pathLst>
                <a:path h="576257" w="4212213">
                  <a:moveTo>
                    <a:pt x="0" y="0"/>
                  </a:moveTo>
                  <a:lnTo>
                    <a:pt x="4212213" y="0"/>
                  </a:lnTo>
                  <a:lnTo>
                    <a:pt x="4212213" y="576257"/>
                  </a:lnTo>
                  <a:lnTo>
                    <a:pt x="0" y="57625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50000">
                  <a:srgbClr val="000000">
                    <a:alpha val="675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212213" cy="614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7027769" y="881796"/>
            <a:ext cx="234530" cy="213129"/>
          </a:xfrm>
          <a:custGeom>
            <a:avLst/>
            <a:gdLst/>
            <a:ahLst/>
            <a:cxnLst/>
            <a:rect r="r" b="b" t="t" l="l"/>
            <a:pathLst>
              <a:path h="213129" w="234530">
                <a:moveTo>
                  <a:pt x="0" y="0"/>
                </a:moveTo>
                <a:lnTo>
                  <a:pt x="234530" y="0"/>
                </a:lnTo>
                <a:lnTo>
                  <a:pt x="234530" y="213130"/>
                </a:lnTo>
                <a:lnTo>
                  <a:pt x="0" y="213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2334767" y="8551419"/>
            <a:ext cx="4106065" cy="679893"/>
            <a:chOff x="0" y="0"/>
            <a:chExt cx="1206758" cy="1998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06758" cy="199818"/>
            </a:xfrm>
            <a:custGeom>
              <a:avLst/>
              <a:gdLst/>
              <a:ahLst/>
              <a:cxnLst/>
              <a:rect r="r" b="b" t="t" l="l"/>
              <a:pathLst>
                <a:path h="199818" w="1206758">
                  <a:moveTo>
                    <a:pt x="67877" y="0"/>
                  </a:moveTo>
                  <a:lnTo>
                    <a:pt x="1138880" y="0"/>
                  </a:lnTo>
                  <a:cubicBezTo>
                    <a:pt x="1156883" y="0"/>
                    <a:pt x="1174148" y="7151"/>
                    <a:pt x="1186877" y="19881"/>
                  </a:cubicBezTo>
                  <a:cubicBezTo>
                    <a:pt x="1199607" y="32610"/>
                    <a:pt x="1206758" y="49875"/>
                    <a:pt x="1206758" y="67877"/>
                  </a:cubicBezTo>
                  <a:lnTo>
                    <a:pt x="1206758" y="131941"/>
                  </a:lnTo>
                  <a:cubicBezTo>
                    <a:pt x="1206758" y="149943"/>
                    <a:pt x="1199607" y="167208"/>
                    <a:pt x="1186877" y="179937"/>
                  </a:cubicBezTo>
                  <a:cubicBezTo>
                    <a:pt x="1174148" y="192667"/>
                    <a:pt x="1156883" y="199818"/>
                    <a:pt x="1138880" y="199818"/>
                  </a:cubicBezTo>
                  <a:lnTo>
                    <a:pt x="67877" y="199818"/>
                  </a:lnTo>
                  <a:cubicBezTo>
                    <a:pt x="49875" y="199818"/>
                    <a:pt x="32610" y="192667"/>
                    <a:pt x="19881" y="179937"/>
                  </a:cubicBezTo>
                  <a:cubicBezTo>
                    <a:pt x="7151" y="167208"/>
                    <a:pt x="0" y="149943"/>
                    <a:pt x="0" y="131941"/>
                  </a:cubicBezTo>
                  <a:lnTo>
                    <a:pt x="0" y="67877"/>
                  </a:lnTo>
                  <a:cubicBezTo>
                    <a:pt x="0" y="49875"/>
                    <a:pt x="7151" y="32610"/>
                    <a:pt x="19881" y="19881"/>
                  </a:cubicBezTo>
                  <a:cubicBezTo>
                    <a:pt x="32610" y="7151"/>
                    <a:pt x="49875" y="0"/>
                    <a:pt x="67877" y="0"/>
                  </a:cubicBezTo>
                  <a:close/>
                </a:path>
              </a:pathLst>
            </a:custGeom>
            <a:solidFill>
              <a:srgbClr val="FCD35A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06758" cy="2379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582405" y="8551419"/>
            <a:ext cx="679893" cy="67989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A36E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6733469" y="8715941"/>
            <a:ext cx="377767" cy="350851"/>
          </a:xfrm>
          <a:custGeom>
            <a:avLst/>
            <a:gdLst/>
            <a:ahLst/>
            <a:cxnLst/>
            <a:rect r="r" b="b" t="t" l="l"/>
            <a:pathLst>
              <a:path h="350851" w="377767">
                <a:moveTo>
                  <a:pt x="0" y="0"/>
                </a:moveTo>
                <a:lnTo>
                  <a:pt x="377766" y="0"/>
                </a:lnTo>
                <a:lnTo>
                  <a:pt x="377766" y="350850"/>
                </a:lnTo>
                <a:lnTo>
                  <a:pt x="0" y="350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091480" y="1893484"/>
            <a:ext cx="1057660" cy="1157494"/>
          </a:xfrm>
          <a:custGeom>
            <a:avLst/>
            <a:gdLst/>
            <a:ahLst/>
            <a:cxnLst/>
            <a:rect r="r" b="b" t="t" l="l"/>
            <a:pathLst>
              <a:path h="1157494" w="1057660">
                <a:moveTo>
                  <a:pt x="0" y="0"/>
                </a:moveTo>
                <a:lnTo>
                  <a:pt x="1057660" y="0"/>
                </a:lnTo>
                <a:lnTo>
                  <a:pt x="1057660" y="1157494"/>
                </a:lnTo>
                <a:lnTo>
                  <a:pt x="0" y="11574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529235" y="3192617"/>
            <a:ext cx="765860" cy="838150"/>
          </a:xfrm>
          <a:custGeom>
            <a:avLst/>
            <a:gdLst/>
            <a:ahLst/>
            <a:cxnLst/>
            <a:rect r="r" b="b" t="t" l="l"/>
            <a:pathLst>
              <a:path h="838150" w="765860">
                <a:moveTo>
                  <a:pt x="0" y="0"/>
                </a:moveTo>
                <a:lnTo>
                  <a:pt x="765860" y="0"/>
                </a:lnTo>
                <a:lnTo>
                  <a:pt x="765860" y="838150"/>
                </a:lnTo>
                <a:lnTo>
                  <a:pt x="0" y="8381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736883" y="6886612"/>
            <a:ext cx="1831843" cy="2004753"/>
          </a:xfrm>
          <a:custGeom>
            <a:avLst/>
            <a:gdLst/>
            <a:ahLst/>
            <a:cxnLst/>
            <a:rect r="r" b="b" t="t" l="l"/>
            <a:pathLst>
              <a:path h="2004753" w="1831843">
                <a:moveTo>
                  <a:pt x="0" y="0"/>
                </a:moveTo>
                <a:lnTo>
                  <a:pt x="1831843" y="0"/>
                </a:lnTo>
                <a:lnTo>
                  <a:pt x="1831843" y="2004754"/>
                </a:lnTo>
                <a:lnTo>
                  <a:pt x="0" y="20047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8141450" y="628332"/>
            <a:ext cx="1667285" cy="1102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EMNLP 2023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874713"/>
            <a:ext cx="153172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24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EOJIN JEON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25254" y="8544687"/>
            <a:ext cx="4618546" cy="1372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Fixing a Hidd</a:t>
            </a:r>
            <a:r>
              <a:rPr lang="en-US" b="true" sz="25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25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 Fl</a:t>
            </a:r>
            <a:r>
              <a:rPr lang="en-US" b="true" sz="25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b="true" sz="25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 in D</a:t>
            </a:r>
            <a:r>
              <a:rPr lang="en-US" b="true" sz="25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25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bi</a:t>
            </a:r>
            <a:r>
              <a:rPr lang="en-US" b="true" sz="25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b="true" sz="25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sing: Why Sof</a:t>
            </a:r>
            <a:r>
              <a:rPr lang="en-US" b="true" sz="25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b="true" sz="25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max </a:t>
            </a:r>
            <a:r>
              <a:rPr lang="en-US" b="true" sz="25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is</a:t>
            </a:r>
            <a:r>
              <a:rPr lang="en-US" b="true" sz="25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25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b="true" sz="25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</a:t>
            </a:r>
            <a:r>
              <a:rPr lang="en-US" b="true" sz="25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25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Pr</a:t>
            </a:r>
            <a:r>
              <a:rPr lang="en-US" b="true" sz="25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  <a:r>
              <a:rPr lang="en-US" b="true" sz="25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ble</a:t>
            </a:r>
            <a:r>
              <a:rPr lang="en-US" b="true" sz="25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334767" y="8759603"/>
            <a:ext cx="4106065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4"/>
              </a:lnSpc>
            </a:pPr>
            <a:r>
              <a:rPr lang="en-US" sz="2499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START PRESENTATION NOW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731324" y="4079629"/>
            <a:ext cx="18288000" cy="3278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47"/>
              </a:lnSpc>
            </a:pPr>
            <a:r>
              <a:rPr lang="en-US" sz="8799">
                <a:solidFill>
                  <a:srgbClr val="FCD35A"/>
                </a:solidFill>
                <a:latin typeface="Norwester"/>
                <a:ea typeface="Norwester"/>
                <a:cs typeface="Norwester"/>
                <a:sym typeface="Norwester"/>
              </a:rPr>
              <a:t>NATURAL</a:t>
            </a:r>
          </a:p>
          <a:p>
            <a:pPr algn="ctr">
              <a:lnSpc>
                <a:spcPts val="8447"/>
              </a:lnSpc>
            </a:pPr>
            <a:r>
              <a:rPr lang="en-US" sz="8799">
                <a:solidFill>
                  <a:srgbClr val="FCD35A"/>
                </a:solidFill>
                <a:latin typeface="Norwester"/>
                <a:ea typeface="Norwester"/>
                <a:cs typeface="Norwester"/>
                <a:sym typeface="Norwester"/>
              </a:rPr>
              <a:t> LANGUAGE</a:t>
            </a:r>
          </a:p>
          <a:p>
            <a:pPr algn="ctr">
              <a:lnSpc>
                <a:spcPts val="8447"/>
              </a:lnSpc>
            </a:pPr>
            <a:r>
              <a:rPr lang="en-US" sz="8799">
                <a:solidFill>
                  <a:srgbClr val="FCD35A"/>
                </a:solidFill>
                <a:latin typeface="Norwester"/>
                <a:ea typeface="Norwester"/>
                <a:cs typeface="Norwester"/>
                <a:sym typeface="Norwester"/>
              </a:rPr>
              <a:t> UNDERSTANDING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413646" y="4863486"/>
            <a:ext cx="23068386" cy="3141832"/>
            <a:chOff x="0" y="0"/>
            <a:chExt cx="5313263" cy="7236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313263" cy="723647"/>
            </a:xfrm>
            <a:custGeom>
              <a:avLst/>
              <a:gdLst/>
              <a:ahLst/>
              <a:cxnLst/>
              <a:rect r="r" b="b" t="t" l="l"/>
              <a:pathLst>
                <a:path h="723647" w="5313263">
                  <a:moveTo>
                    <a:pt x="0" y="0"/>
                  </a:moveTo>
                  <a:lnTo>
                    <a:pt x="5313263" y="0"/>
                  </a:lnTo>
                  <a:lnTo>
                    <a:pt x="5313263" y="723647"/>
                  </a:lnTo>
                  <a:lnTo>
                    <a:pt x="0" y="72364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50000">
                  <a:srgbClr val="000000">
                    <a:alpha val="675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5313263" cy="76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6319005" y="2875126"/>
            <a:ext cx="5649991" cy="10260383"/>
          </a:xfrm>
          <a:custGeom>
            <a:avLst/>
            <a:gdLst/>
            <a:ahLst/>
            <a:cxnLst/>
            <a:rect r="r" b="b" t="t" l="l"/>
            <a:pathLst>
              <a:path h="10260383" w="5649991">
                <a:moveTo>
                  <a:pt x="0" y="0"/>
                </a:moveTo>
                <a:lnTo>
                  <a:pt x="5649990" y="0"/>
                </a:lnTo>
                <a:lnTo>
                  <a:pt x="5649990" y="10260383"/>
                </a:lnTo>
                <a:lnTo>
                  <a:pt x="0" y="1026038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028700" y="1423541"/>
            <a:ext cx="153172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24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MINGYU LEE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" y="1972370"/>
            <a:ext cx="153172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24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JUHYEONG PARK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8700" y="2912656"/>
            <a:ext cx="153172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24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YEACHAN KIM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8700" y="3750806"/>
            <a:ext cx="153172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24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WING-LAM MOK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8700" y="4627106"/>
            <a:ext cx="153172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24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SANGKEUN LEE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59675" y="8539301"/>
            <a:ext cx="9158822" cy="915882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681504" y="8779269"/>
            <a:ext cx="1057660" cy="1157494"/>
          </a:xfrm>
          <a:custGeom>
            <a:avLst/>
            <a:gdLst/>
            <a:ahLst/>
            <a:cxnLst/>
            <a:rect r="r" b="b" t="t" l="l"/>
            <a:pathLst>
              <a:path h="1157494" w="1057660">
                <a:moveTo>
                  <a:pt x="0" y="0"/>
                </a:moveTo>
                <a:lnTo>
                  <a:pt x="1057660" y="0"/>
                </a:lnTo>
                <a:lnTo>
                  <a:pt x="1057660" y="1157494"/>
                </a:lnTo>
                <a:lnTo>
                  <a:pt x="0" y="1157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530823" y="9032458"/>
            <a:ext cx="765860" cy="838150"/>
          </a:xfrm>
          <a:custGeom>
            <a:avLst/>
            <a:gdLst/>
            <a:ahLst/>
            <a:cxnLst/>
            <a:rect r="r" b="b" t="t" l="l"/>
            <a:pathLst>
              <a:path h="838150" w="765860">
                <a:moveTo>
                  <a:pt x="0" y="0"/>
                </a:moveTo>
                <a:lnTo>
                  <a:pt x="765859" y="0"/>
                </a:lnTo>
                <a:lnTo>
                  <a:pt x="765859" y="838150"/>
                </a:lnTo>
                <a:lnTo>
                  <a:pt x="0" y="838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171689" y="3889129"/>
            <a:ext cx="915922" cy="1002377"/>
          </a:xfrm>
          <a:custGeom>
            <a:avLst/>
            <a:gdLst/>
            <a:ahLst/>
            <a:cxnLst/>
            <a:rect r="r" b="b" t="t" l="l"/>
            <a:pathLst>
              <a:path h="1002377" w="915922">
                <a:moveTo>
                  <a:pt x="0" y="0"/>
                </a:moveTo>
                <a:lnTo>
                  <a:pt x="915922" y="0"/>
                </a:lnTo>
                <a:lnTo>
                  <a:pt x="915922" y="1002376"/>
                </a:lnTo>
                <a:lnTo>
                  <a:pt x="0" y="10023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875832" y="9065067"/>
            <a:ext cx="386466" cy="38646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D35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961700" y="9158584"/>
            <a:ext cx="214731" cy="199431"/>
          </a:xfrm>
          <a:custGeom>
            <a:avLst/>
            <a:gdLst/>
            <a:ahLst/>
            <a:cxnLst/>
            <a:rect r="r" b="b" t="t" l="l"/>
            <a:pathLst>
              <a:path h="199431" w="214731">
                <a:moveTo>
                  <a:pt x="0" y="0"/>
                </a:moveTo>
                <a:lnTo>
                  <a:pt x="214731" y="0"/>
                </a:lnTo>
                <a:lnTo>
                  <a:pt x="214731" y="199432"/>
                </a:lnTo>
                <a:lnTo>
                  <a:pt x="0" y="1994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087611" y="1173273"/>
            <a:ext cx="8786268" cy="5616338"/>
            <a:chOff x="0" y="0"/>
            <a:chExt cx="1361223" cy="87011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61223" cy="870118"/>
            </a:xfrm>
            <a:custGeom>
              <a:avLst/>
              <a:gdLst/>
              <a:ahLst/>
              <a:cxnLst/>
              <a:rect r="r" b="b" t="t" l="l"/>
              <a:pathLst>
                <a:path h="870118" w="1361223">
                  <a:moveTo>
                    <a:pt x="31721" y="0"/>
                  </a:moveTo>
                  <a:lnTo>
                    <a:pt x="1329502" y="0"/>
                  </a:lnTo>
                  <a:cubicBezTo>
                    <a:pt x="1337915" y="0"/>
                    <a:pt x="1345983" y="3342"/>
                    <a:pt x="1351932" y="9291"/>
                  </a:cubicBezTo>
                  <a:cubicBezTo>
                    <a:pt x="1357881" y="15240"/>
                    <a:pt x="1361223" y="23308"/>
                    <a:pt x="1361223" y="31721"/>
                  </a:cubicBezTo>
                  <a:lnTo>
                    <a:pt x="1361223" y="838397"/>
                  </a:lnTo>
                  <a:cubicBezTo>
                    <a:pt x="1361223" y="846810"/>
                    <a:pt x="1357881" y="854878"/>
                    <a:pt x="1351932" y="860827"/>
                  </a:cubicBezTo>
                  <a:cubicBezTo>
                    <a:pt x="1345983" y="866776"/>
                    <a:pt x="1337915" y="870118"/>
                    <a:pt x="1329502" y="870118"/>
                  </a:cubicBezTo>
                  <a:lnTo>
                    <a:pt x="31721" y="870118"/>
                  </a:lnTo>
                  <a:cubicBezTo>
                    <a:pt x="23308" y="870118"/>
                    <a:pt x="15240" y="866776"/>
                    <a:pt x="9291" y="860827"/>
                  </a:cubicBezTo>
                  <a:cubicBezTo>
                    <a:pt x="3342" y="854878"/>
                    <a:pt x="0" y="846810"/>
                    <a:pt x="0" y="838397"/>
                  </a:cubicBezTo>
                  <a:lnTo>
                    <a:pt x="0" y="31721"/>
                  </a:lnTo>
                  <a:cubicBezTo>
                    <a:pt x="0" y="23308"/>
                    <a:pt x="3342" y="15240"/>
                    <a:pt x="9291" y="9291"/>
                  </a:cubicBezTo>
                  <a:cubicBezTo>
                    <a:pt x="15240" y="3342"/>
                    <a:pt x="23308" y="0"/>
                    <a:pt x="31721" y="0"/>
                  </a:cubicBezTo>
                  <a:close/>
                </a:path>
              </a:pathLst>
            </a:custGeom>
            <a:blipFill>
              <a:blip r:embed="rId10"/>
              <a:stretch>
                <a:fillRect l="0" t="-2147" r="0" b="-2147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042815" y="6965805"/>
            <a:ext cx="3674395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24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EXAMPLE FROM PAPER (SECTION 1) </a:t>
            </a:r>
          </a:p>
          <a:p>
            <a:pPr algn="l">
              <a:lnSpc>
                <a:spcPts val="2624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9245465" y="6889605"/>
            <a:ext cx="3702624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Existin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D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7729383"/>
            <a:ext cx="7071164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Negation → p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redict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nt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radi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ti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</a:p>
          <a:p>
            <a:pPr algn="l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xical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o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ve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ap 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→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red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ic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ts 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ta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lment</a:t>
            </a:r>
          </a:p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826994" y="5373561"/>
            <a:ext cx="7071164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Mod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els exploit spurious correlations</a:t>
            </a:r>
          </a:p>
          <a:p>
            <a:pPr algn="l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High In-Distribution accuracy</a:t>
            </a:r>
          </a:p>
          <a:p>
            <a:pPr algn="l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Poor Out-of-Distribution (OOD) generalization</a:t>
            </a:r>
          </a:p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1298766"/>
            <a:ext cx="7348790" cy="176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9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PROBLEM DESCRIPTION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3436176"/>
            <a:ext cx="7348790" cy="176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999">
                <a:solidFill>
                  <a:srgbClr val="FCD35A"/>
                </a:solidFill>
                <a:latin typeface="Norwester"/>
                <a:ea typeface="Norwester"/>
                <a:cs typeface="Norwester"/>
                <a:sym typeface="Norwester"/>
              </a:rPr>
              <a:t>DATASET BIAS IN NLP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559675" y="6889605"/>
            <a:ext cx="3702624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Proposed Bias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Exp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erts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0" y="7427758"/>
            <a:ext cx="3702624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Multi-class auxiliary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mod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</a:p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(Problem)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556676" y="7427758"/>
            <a:ext cx="3702624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Bias experts</a:t>
            </a:r>
          </a:p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(Solution)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099412" y="8232621"/>
            <a:ext cx="7071164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FFFFFF">
                    <a:alpha val="53725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The paradox:</a:t>
            </a:r>
          </a:p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FFFFFF">
                    <a:alpha val="53725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 Auxiliary models meant to d</a:t>
            </a:r>
            <a:r>
              <a:rPr lang="en-US" b="true" sz="1999" strike="noStrike" u="none">
                <a:solidFill>
                  <a:srgbClr val="FFFFFF">
                    <a:alpha val="53725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etect bias are trained with objectives tha</a:t>
            </a:r>
            <a:r>
              <a:rPr lang="en-US" b="true" sz="1999" strike="noStrike" u="none">
                <a:solidFill>
                  <a:srgbClr val="FFFFFF">
                    <a:alpha val="53725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t prevent</a:t>
            </a:r>
            <a:r>
              <a:rPr lang="en-US" b="true" sz="1999" strike="noStrike" u="none">
                <a:solidFill>
                  <a:srgbClr val="FFFFFF">
                    <a:alpha val="53725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 overfitting — but bias detection requi</a:t>
            </a:r>
            <a:r>
              <a:rPr lang="en-US" b="true" sz="1999" strike="noStrike" u="none">
                <a:solidFill>
                  <a:srgbClr val="FFFFFF">
                    <a:alpha val="53725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re</a:t>
            </a:r>
            <a:r>
              <a:rPr lang="en-US" b="true" sz="1999" strike="noStrike" u="none">
                <a:solidFill>
                  <a:srgbClr val="FFFFFF">
                    <a:alpha val="53725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s ove</a:t>
            </a:r>
            <a:r>
              <a:rPr lang="en-US" b="true" sz="1999" strike="noStrike" u="none">
                <a:solidFill>
                  <a:srgbClr val="FFFFFF">
                    <a:alpha val="53725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rfi</a:t>
            </a:r>
            <a:r>
              <a:rPr lang="en-US" b="true" sz="1999" strike="noStrike" u="none">
                <a:solidFill>
                  <a:srgbClr val="FFFFFF">
                    <a:alpha val="53725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tting to bias.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48089" y="6310158"/>
            <a:ext cx="9158822" cy="915882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3915468" y="-7202831"/>
            <a:ext cx="9158822" cy="915882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75832" y="9065067"/>
            <a:ext cx="386466" cy="38646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D35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961700" y="9158584"/>
            <a:ext cx="214731" cy="199431"/>
          </a:xfrm>
          <a:custGeom>
            <a:avLst/>
            <a:gdLst/>
            <a:ahLst/>
            <a:cxnLst/>
            <a:rect r="r" b="b" t="t" l="l"/>
            <a:pathLst>
              <a:path h="199431" w="214731">
                <a:moveTo>
                  <a:pt x="0" y="0"/>
                </a:moveTo>
                <a:lnTo>
                  <a:pt x="214731" y="0"/>
                </a:lnTo>
                <a:lnTo>
                  <a:pt x="214731" y="199432"/>
                </a:lnTo>
                <a:lnTo>
                  <a:pt x="0" y="199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895704" y="547588"/>
            <a:ext cx="6104770" cy="2786670"/>
            <a:chOff x="0" y="0"/>
            <a:chExt cx="1125742" cy="5138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25742" cy="513872"/>
            </a:xfrm>
            <a:custGeom>
              <a:avLst/>
              <a:gdLst/>
              <a:ahLst/>
              <a:cxnLst/>
              <a:rect r="r" b="b" t="t" l="l"/>
              <a:pathLst>
                <a:path h="513872" w="1125742">
                  <a:moveTo>
                    <a:pt x="45654" y="0"/>
                  </a:moveTo>
                  <a:lnTo>
                    <a:pt x="1080088" y="0"/>
                  </a:lnTo>
                  <a:cubicBezTo>
                    <a:pt x="1105302" y="0"/>
                    <a:pt x="1125742" y="20440"/>
                    <a:pt x="1125742" y="45654"/>
                  </a:cubicBezTo>
                  <a:lnTo>
                    <a:pt x="1125742" y="468218"/>
                  </a:lnTo>
                  <a:cubicBezTo>
                    <a:pt x="1125742" y="480326"/>
                    <a:pt x="1120932" y="491939"/>
                    <a:pt x="1112370" y="500500"/>
                  </a:cubicBezTo>
                  <a:cubicBezTo>
                    <a:pt x="1103808" y="509062"/>
                    <a:pt x="1092196" y="513872"/>
                    <a:pt x="1080088" y="513872"/>
                  </a:cubicBezTo>
                  <a:lnTo>
                    <a:pt x="45654" y="513872"/>
                  </a:lnTo>
                  <a:cubicBezTo>
                    <a:pt x="33546" y="513872"/>
                    <a:pt x="21934" y="509062"/>
                    <a:pt x="13372" y="500500"/>
                  </a:cubicBezTo>
                  <a:cubicBezTo>
                    <a:pt x="4810" y="491939"/>
                    <a:pt x="0" y="480326"/>
                    <a:pt x="0" y="468218"/>
                  </a:cubicBezTo>
                  <a:lnTo>
                    <a:pt x="0" y="45654"/>
                  </a:lnTo>
                  <a:cubicBezTo>
                    <a:pt x="0" y="33546"/>
                    <a:pt x="4810" y="21934"/>
                    <a:pt x="13372" y="13372"/>
                  </a:cubicBezTo>
                  <a:cubicBezTo>
                    <a:pt x="21934" y="4810"/>
                    <a:pt x="33546" y="0"/>
                    <a:pt x="45654" y="0"/>
                  </a:cubicBezTo>
                  <a:close/>
                </a:path>
              </a:pathLst>
            </a:custGeom>
            <a:blipFill>
              <a:blip r:embed="rId4"/>
              <a:stretch>
                <a:fillRect l="-24" t="0" r="-24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5681504" y="8779269"/>
            <a:ext cx="1057660" cy="1157494"/>
          </a:xfrm>
          <a:custGeom>
            <a:avLst/>
            <a:gdLst/>
            <a:ahLst/>
            <a:cxnLst/>
            <a:rect r="r" b="b" t="t" l="l"/>
            <a:pathLst>
              <a:path h="1157494" w="1057660">
                <a:moveTo>
                  <a:pt x="0" y="0"/>
                </a:moveTo>
                <a:lnTo>
                  <a:pt x="1057660" y="0"/>
                </a:lnTo>
                <a:lnTo>
                  <a:pt x="1057660" y="1157494"/>
                </a:lnTo>
                <a:lnTo>
                  <a:pt x="0" y="11574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515147" y="5307782"/>
            <a:ext cx="915922" cy="1002377"/>
          </a:xfrm>
          <a:custGeom>
            <a:avLst/>
            <a:gdLst/>
            <a:ahLst/>
            <a:cxnLst/>
            <a:rect r="r" b="b" t="t" l="l"/>
            <a:pathLst>
              <a:path h="1002377" w="915922">
                <a:moveTo>
                  <a:pt x="0" y="0"/>
                </a:moveTo>
                <a:lnTo>
                  <a:pt x="915922" y="0"/>
                </a:lnTo>
                <a:lnTo>
                  <a:pt x="915922" y="1002376"/>
                </a:lnTo>
                <a:lnTo>
                  <a:pt x="0" y="10023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9895704" y="3750165"/>
            <a:ext cx="6104770" cy="2786670"/>
            <a:chOff x="0" y="0"/>
            <a:chExt cx="1125742" cy="5138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25742" cy="513872"/>
            </a:xfrm>
            <a:custGeom>
              <a:avLst/>
              <a:gdLst/>
              <a:ahLst/>
              <a:cxnLst/>
              <a:rect r="r" b="b" t="t" l="l"/>
              <a:pathLst>
                <a:path h="513872" w="1125742">
                  <a:moveTo>
                    <a:pt x="45654" y="0"/>
                  </a:moveTo>
                  <a:lnTo>
                    <a:pt x="1080088" y="0"/>
                  </a:lnTo>
                  <a:cubicBezTo>
                    <a:pt x="1105302" y="0"/>
                    <a:pt x="1125742" y="20440"/>
                    <a:pt x="1125742" y="45654"/>
                  </a:cubicBezTo>
                  <a:lnTo>
                    <a:pt x="1125742" y="468218"/>
                  </a:lnTo>
                  <a:cubicBezTo>
                    <a:pt x="1125742" y="480326"/>
                    <a:pt x="1120932" y="491939"/>
                    <a:pt x="1112370" y="500500"/>
                  </a:cubicBezTo>
                  <a:cubicBezTo>
                    <a:pt x="1103808" y="509062"/>
                    <a:pt x="1092196" y="513872"/>
                    <a:pt x="1080088" y="513872"/>
                  </a:cubicBezTo>
                  <a:lnTo>
                    <a:pt x="45654" y="513872"/>
                  </a:lnTo>
                  <a:cubicBezTo>
                    <a:pt x="33546" y="513872"/>
                    <a:pt x="21934" y="509062"/>
                    <a:pt x="13372" y="500500"/>
                  </a:cubicBezTo>
                  <a:cubicBezTo>
                    <a:pt x="4810" y="491939"/>
                    <a:pt x="0" y="480326"/>
                    <a:pt x="0" y="468218"/>
                  </a:cubicBezTo>
                  <a:lnTo>
                    <a:pt x="0" y="45654"/>
                  </a:lnTo>
                  <a:cubicBezTo>
                    <a:pt x="0" y="33546"/>
                    <a:pt x="4810" y="21934"/>
                    <a:pt x="13372" y="13372"/>
                  </a:cubicBezTo>
                  <a:cubicBezTo>
                    <a:pt x="21934" y="4810"/>
                    <a:pt x="33546" y="0"/>
                    <a:pt x="45654" y="0"/>
                  </a:cubicBezTo>
                  <a:close/>
                </a:path>
              </a:pathLst>
            </a:custGeom>
            <a:blipFill>
              <a:blip r:embed="rId9"/>
              <a:stretch>
                <a:fillRect l="0" t="-2166" r="0" b="-2166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6069217" y="3259628"/>
            <a:ext cx="2380165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24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MULTI-CLASS CONFIDENCE LOWER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6994" y="6357783"/>
            <a:ext cx="7699914" cy="307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5589" indent="-422794" lvl="1">
              <a:lnSpc>
                <a:spcPts val="4112"/>
              </a:lnSpc>
              <a:buFont typeface="Arial"/>
              <a:buChar char="•"/>
            </a:pPr>
            <a:r>
              <a:rPr lang="en-US" sz="3916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MULTI-CLASS OBJECTIVE LEARNS BIAS ATTRIBUTES SLOWER</a:t>
            </a:r>
          </a:p>
          <a:p>
            <a:pPr algn="l" marL="845589" indent="-422794" lvl="1">
              <a:lnSpc>
                <a:spcPts val="4112"/>
              </a:lnSpc>
              <a:buFont typeface="Arial"/>
              <a:buChar char="•"/>
            </a:pPr>
            <a:r>
              <a:rPr lang="en-US" sz="3916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LEARNS TARGET ATTRIBUTES FASTER</a:t>
            </a:r>
          </a:p>
          <a:p>
            <a:pPr algn="l" marL="845589" indent="-422794" lvl="1">
              <a:lnSpc>
                <a:spcPts val="4112"/>
              </a:lnSpc>
              <a:buFont typeface="Arial"/>
              <a:buChar char="•"/>
            </a:pPr>
            <a:r>
              <a:rPr lang="en-US" sz="3916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POOR BIAS IDENTIFICATION</a:t>
            </a:r>
          </a:p>
          <a:p>
            <a:pPr algn="l">
              <a:lnSpc>
                <a:spcPts val="4112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720598"/>
            <a:ext cx="6676205" cy="2613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9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WHY MULTI-CLASS OBJECTIVE IS SUB-OPTIMAL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3559909"/>
            <a:ext cx="6006217" cy="176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999">
                <a:solidFill>
                  <a:srgbClr val="FCD35A"/>
                </a:solidFill>
                <a:latin typeface="Norwester"/>
                <a:ea typeface="Norwester"/>
                <a:cs typeface="Norwester"/>
                <a:sym typeface="Norwester"/>
              </a:rPr>
              <a:t>EMPIRICAL OBSERVATIONS: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092609" y="3259628"/>
            <a:ext cx="173642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24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BINARY LEARNS BIAS FASTER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614178" y="6974985"/>
            <a:ext cx="3509722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24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MULTI-CLASS LEARNING OBJECTIVE IS SUB-OPTIMAL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37617" y="7889555"/>
            <a:ext cx="9158822" cy="915882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3915468" y="-7202831"/>
            <a:ext cx="9158822" cy="915882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848660" y="8779269"/>
            <a:ext cx="1057660" cy="1157494"/>
          </a:xfrm>
          <a:custGeom>
            <a:avLst/>
            <a:gdLst/>
            <a:ahLst/>
            <a:cxnLst/>
            <a:rect r="r" b="b" t="t" l="l"/>
            <a:pathLst>
              <a:path h="1157494" w="1057660">
                <a:moveTo>
                  <a:pt x="0" y="0"/>
                </a:moveTo>
                <a:lnTo>
                  <a:pt x="1057660" y="0"/>
                </a:lnTo>
                <a:lnTo>
                  <a:pt x="1057660" y="1157494"/>
                </a:lnTo>
                <a:lnTo>
                  <a:pt x="0" y="1157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59772" y="4366280"/>
            <a:ext cx="915922" cy="1002377"/>
          </a:xfrm>
          <a:custGeom>
            <a:avLst/>
            <a:gdLst/>
            <a:ahLst/>
            <a:cxnLst/>
            <a:rect r="r" b="b" t="t" l="l"/>
            <a:pathLst>
              <a:path h="1002377" w="915922">
                <a:moveTo>
                  <a:pt x="0" y="0"/>
                </a:moveTo>
                <a:lnTo>
                  <a:pt x="915922" y="0"/>
                </a:lnTo>
                <a:lnTo>
                  <a:pt x="915922" y="1002377"/>
                </a:lnTo>
                <a:lnTo>
                  <a:pt x="0" y="10023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6875832" y="9065067"/>
            <a:ext cx="386466" cy="38646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D35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6961700" y="9158584"/>
            <a:ext cx="214731" cy="199431"/>
          </a:xfrm>
          <a:custGeom>
            <a:avLst/>
            <a:gdLst/>
            <a:ahLst/>
            <a:cxnLst/>
            <a:rect r="r" b="b" t="t" l="l"/>
            <a:pathLst>
              <a:path h="199431" w="214731">
                <a:moveTo>
                  <a:pt x="0" y="0"/>
                </a:moveTo>
                <a:lnTo>
                  <a:pt x="214731" y="0"/>
                </a:lnTo>
                <a:lnTo>
                  <a:pt x="214731" y="199432"/>
                </a:lnTo>
                <a:lnTo>
                  <a:pt x="0" y="1994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028700" y="4867468"/>
            <a:ext cx="6147765" cy="3911800"/>
            <a:chOff x="0" y="0"/>
            <a:chExt cx="807599" cy="5138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07599" cy="513872"/>
            </a:xfrm>
            <a:custGeom>
              <a:avLst/>
              <a:gdLst/>
              <a:ahLst/>
              <a:cxnLst/>
              <a:rect r="r" b="b" t="t" l="l"/>
              <a:pathLst>
                <a:path h="513872" w="807599">
                  <a:moveTo>
                    <a:pt x="45335" y="0"/>
                  </a:moveTo>
                  <a:lnTo>
                    <a:pt x="762264" y="0"/>
                  </a:lnTo>
                  <a:cubicBezTo>
                    <a:pt x="774287" y="0"/>
                    <a:pt x="785819" y="4776"/>
                    <a:pt x="794321" y="13278"/>
                  </a:cubicBezTo>
                  <a:cubicBezTo>
                    <a:pt x="802823" y="21780"/>
                    <a:pt x="807599" y="33311"/>
                    <a:pt x="807599" y="45335"/>
                  </a:cubicBezTo>
                  <a:lnTo>
                    <a:pt x="807599" y="468537"/>
                  </a:lnTo>
                  <a:cubicBezTo>
                    <a:pt x="807599" y="480561"/>
                    <a:pt x="802823" y="492092"/>
                    <a:pt x="794321" y="500594"/>
                  </a:cubicBezTo>
                  <a:cubicBezTo>
                    <a:pt x="785819" y="509096"/>
                    <a:pt x="774287" y="513872"/>
                    <a:pt x="762264" y="513872"/>
                  </a:cubicBezTo>
                  <a:lnTo>
                    <a:pt x="45335" y="513872"/>
                  </a:lnTo>
                  <a:cubicBezTo>
                    <a:pt x="33311" y="513872"/>
                    <a:pt x="21780" y="509096"/>
                    <a:pt x="13278" y="500594"/>
                  </a:cubicBezTo>
                  <a:cubicBezTo>
                    <a:pt x="4776" y="492092"/>
                    <a:pt x="0" y="480561"/>
                    <a:pt x="0" y="468537"/>
                  </a:cubicBezTo>
                  <a:lnTo>
                    <a:pt x="0" y="45335"/>
                  </a:lnTo>
                  <a:cubicBezTo>
                    <a:pt x="0" y="33311"/>
                    <a:pt x="4776" y="21780"/>
                    <a:pt x="13278" y="13278"/>
                  </a:cubicBezTo>
                  <a:cubicBezTo>
                    <a:pt x="21780" y="4776"/>
                    <a:pt x="33311" y="0"/>
                    <a:pt x="45335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914" r="0" b="-914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7430965" y="5635774"/>
            <a:ext cx="4959092" cy="352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8465" indent="-364232" lvl="1">
              <a:lnSpc>
                <a:spcPts val="3542"/>
              </a:lnSpc>
              <a:buFont typeface="Arial"/>
              <a:buChar char="•"/>
            </a:pPr>
            <a:r>
              <a:rPr lang="en-US" sz="3374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MODELS: BERT-BASE (110M PARAMS)</a:t>
            </a:r>
          </a:p>
          <a:p>
            <a:pPr algn="l" marL="728465" indent="-364232" lvl="1">
              <a:lnSpc>
                <a:spcPts val="3542"/>
              </a:lnSpc>
              <a:buFont typeface="Arial"/>
              <a:buChar char="•"/>
            </a:pPr>
            <a:r>
              <a:rPr lang="en-US" sz="3374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AUXILIARY + BIAS EXPERTS: BERT-TINY (4M PARAMS)</a:t>
            </a:r>
          </a:p>
          <a:p>
            <a:pPr algn="l" marL="728465" indent="-364232" lvl="1">
              <a:lnSpc>
                <a:spcPts val="3542"/>
              </a:lnSpc>
              <a:buFont typeface="Arial"/>
              <a:buChar char="•"/>
            </a:pPr>
            <a:r>
              <a:rPr lang="en-US" sz="3374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3 EPOCHS TRAINING</a:t>
            </a:r>
          </a:p>
          <a:p>
            <a:pPr algn="l" marL="728465" indent="-364232" lvl="1">
              <a:lnSpc>
                <a:spcPts val="3542"/>
              </a:lnSpc>
              <a:buFont typeface="Arial"/>
              <a:buChar char="•"/>
            </a:pPr>
            <a:r>
              <a:rPr lang="en-US" sz="3374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ADAMW OPTIMIZER</a:t>
            </a:r>
          </a:p>
          <a:p>
            <a:pPr algn="l">
              <a:lnSpc>
                <a:spcPts val="3542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0" y="676275"/>
            <a:ext cx="3674395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24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MNLI</a:t>
            </a:r>
          </a:p>
          <a:p>
            <a:pPr algn="l" marL="539749" indent="-269875" lvl="1">
              <a:lnSpc>
                <a:spcPts val="2624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401k</a:t>
            </a:r>
            <a:r>
              <a:rPr lang="en-US" sz="24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 SAMPLES</a:t>
            </a:r>
          </a:p>
          <a:p>
            <a:pPr algn="l" marL="539749" indent="-269875" lvl="1">
              <a:lnSpc>
                <a:spcPts val="2624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3 CLASSES</a:t>
            </a:r>
          </a:p>
          <a:p>
            <a:pPr algn="l" marL="539749" indent="-269875" lvl="1">
              <a:lnSpc>
                <a:spcPts val="2624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OOD: HANS (30K)</a:t>
            </a:r>
          </a:p>
          <a:p>
            <a:pPr algn="l" marL="539749" indent="-269875" lvl="1">
              <a:lnSpc>
                <a:spcPts val="2624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PUBLIC DATASET</a:t>
            </a:r>
          </a:p>
          <a:p>
            <a:pPr algn="l">
              <a:lnSpc>
                <a:spcPts val="2624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2302575"/>
            <a:ext cx="9909352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9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DATASET DESCRIPTION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50108" y="2709293"/>
            <a:ext cx="3674395" cy="164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24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FEVER</a:t>
            </a:r>
          </a:p>
          <a:p>
            <a:pPr algn="l" marL="539749" indent="-269875" lvl="1">
              <a:lnSpc>
                <a:spcPts val="2624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258</a:t>
            </a:r>
            <a:r>
              <a:rPr lang="en-US" sz="24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k</a:t>
            </a:r>
            <a:r>
              <a:rPr lang="en-US" sz="24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 SAMPLES</a:t>
            </a:r>
          </a:p>
          <a:p>
            <a:pPr algn="l" marL="539749" indent="-269875" lvl="1">
              <a:lnSpc>
                <a:spcPts val="2624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3 CLASSES</a:t>
            </a:r>
          </a:p>
          <a:p>
            <a:pPr algn="l" marL="539749" indent="-269875" lvl="1">
              <a:lnSpc>
                <a:spcPts val="2624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OOD: FEVER SYMMETRIC</a:t>
            </a:r>
          </a:p>
          <a:p>
            <a:pPr algn="l">
              <a:lnSpc>
                <a:spcPts val="2624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4416861" y="4385330"/>
            <a:ext cx="3674395" cy="164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24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QQP</a:t>
            </a:r>
          </a:p>
          <a:p>
            <a:pPr algn="l" marL="539749" indent="-269875" lvl="1">
              <a:lnSpc>
                <a:spcPts val="2624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399</a:t>
            </a:r>
            <a:r>
              <a:rPr lang="en-US" sz="24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k</a:t>
            </a:r>
            <a:r>
              <a:rPr lang="en-US" sz="24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 SAMPLES</a:t>
            </a:r>
          </a:p>
          <a:p>
            <a:pPr algn="l" marL="539749" indent="-269875" lvl="1">
              <a:lnSpc>
                <a:spcPts val="2624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2</a:t>
            </a:r>
            <a:r>
              <a:rPr lang="en-US" sz="24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 CLASSES</a:t>
            </a:r>
          </a:p>
          <a:p>
            <a:pPr algn="l" marL="539749" indent="-269875" lvl="1">
              <a:lnSpc>
                <a:spcPts val="2624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OOD: PAWS</a:t>
            </a:r>
          </a:p>
          <a:p>
            <a:pPr algn="l">
              <a:lnSpc>
                <a:spcPts val="2624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875832" y="9065067"/>
            <a:ext cx="386466" cy="38646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D35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961700" y="9158584"/>
            <a:ext cx="214731" cy="199431"/>
          </a:xfrm>
          <a:custGeom>
            <a:avLst/>
            <a:gdLst/>
            <a:ahLst/>
            <a:cxnLst/>
            <a:rect r="r" b="b" t="t" l="l"/>
            <a:pathLst>
              <a:path h="199431" w="214731">
                <a:moveTo>
                  <a:pt x="0" y="0"/>
                </a:moveTo>
                <a:lnTo>
                  <a:pt x="214731" y="0"/>
                </a:lnTo>
                <a:lnTo>
                  <a:pt x="214731" y="199432"/>
                </a:lnTo>
                <a:lnTo>
                  <a:pt x="0" y="199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4045898" y="6910629"/>
            <a:ext cx="9158822" cy="915882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006029" y="2193061"/>
            <a:ext cx="14275941" cy="6567254"/>
            <a:chOff x="0" y="0"/>
            <a:chExt cx="1885136" cy="8672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85136" cy="867205"/>
            </a:xfrm>
            <a:custGeom>
              <a:avLst/>
              <a:gdLst/>
              <a:ahLst/>
              <a:cxnLst/>
              <a:rect r="r" b="b" t="t" l="l"/>
              <a:pathLst>
                <a:path h="867205" w="1885136">
                  <a:moveTo>
                    <a:pt x="19523" y="0"/>
                  </a:moveTo>
                  <a:lnTo>
                    <a:pt x="1865613" y="0"/>
                  </a:lnTo>
                  <a:cubicBezTo>
                    <a:pt x="1870790" y="0"/>
                    <a:pt x="1875756" y="2057"/>
                    <a:pt x="1879418" y="5718"/>
                  </a:cubicBezTo>
                  <a:cubicBezTo>
                    <a:pt x="1883079" y="9379"/>
                    <a:pt x="1885136" y="14345"/>
                    <a:pt x="1885136" y="19523"/>
                  </a:cubicBezTo>
                  <a:lnTo>
                    <a:pt x="1885136" y="847682"/>
                  </a:lnTo>
                  <a:cubicBezTo>
                    <a:pt x="1885136" y="858464"/>
                    <a:pt x="1876395" y="867205"/>
                    <a:pt x="1865613" y="867205"/>
                  </a:cubicBezTo>
                  <a:lnTo>
                    <a:pt x="19523" y="867205"/>
                  </a:lnTo>
                  <a:cubicBezTo>
                    <a:pt x="14345" y="867205"/>
                    <a:pt x="9379" y="865148"/>
                    <a:pt x="5718" y="861487"/>
                  </a:cubicBezTo>
                  <a:cubicBezTo>
                    <a:pt x="2057" y="857825"/>
                    <a:pt x="0" y="852860"/>
                    <a:pt x="0" y="847682"/>
                  </a:cubicBezTo>
                  <a:lnTo>
                    <a:pt x="0" y="19523"/>
                  </a:lnTo>
                  <a:cubicBezTo>
                    <a:pt x="0" y="8741"/>
                    <a:pt x="8741" y="0"/>
                    <a:pt x="19523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05" r="0" b="-405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6536736" y="517622"/>
            <a:ext cx="339096" cy="33909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A36E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875832" y="580258"/>
            <a:ext cx="1057660" cy="1157494"/>
          </a:xfrm>
          <a:custGeom>
            <a:avLst/>
            <a:gdLst/>
            <a:ahLst/>
            <a:cxnLst/>
            <a:rect r="r" b="b" t="t" l="l"/>
            <a:pathLst>
              <a:path h="1157494" w="1057660">
                <a:moveTo>
                  <a:pt x="0" y="0"/>
                </a:moveTo>
                <a:lnTo>
                  <a:pt x="1057660" y="0"/>
                </a:lnTo>
                <a:lnTo>
                  <a:pt x="1057660" y="1157494"/>
                </a:lnTo>
                <a:lnTo>
                  <a:pt x="0" y="11574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530823" y="9032458"/>
            <a:ext cx="765860" cy="838150"/>
          </a:xfrm>
          <a:custGeom>
            <a:avLst/>
            <a:gdLst/>
            <a:ahLst/>
            <a:cxnLst/>
            <a:rect r="r" b="b" t="t" l="l"/>
            <a:pathLst>
              <a:path h="838150" w="765860">
                <a:moveTo>
                  <a:pt x="0" y="0"/>
                </a:moveTo>
                <a:lnTo>
                  <a:pt x="765859" y="0"/>
                </a:lnTo>
                <a:lnTo>
                  <a:pt x="765859" y="838150"/>
                </a:lnTo>
                <a:lnTo>
                  <a:pt x="0" y="8381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31266" y="687170"/>
            <a:ext cx="915922" cy="1002377"/>
          </a:xfrm>
          <a:custGeom>
            <a:avLst/>
            <a:gdLst/>
            <a:ahLst/>
            <a:cxnLst/>
            <a:rect r="r" b="b" t="t" l="l"/>
            <a:pathLst>
              <a:path h="1002377" w="915922">
                <a:moveTo>
                  <a:pt x="0" y="0"/>
                </a:moveTo>
                <a:lnTo>
                  <a:pt x="915922" y="0"/>
                </a:lnTo>
                <a:lnTo>
                  <a:pt x="915922" y="1002377"/>
                </a:lnTo>
                <a:lnTo>
                  <a:pt x="0" y="100237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771337"/>
            <a:ext cx="7348790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9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METHOD OVERVIEW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357473" y="593822"/>
            <a:ext cx="7232273" cy="132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1"/>
              </a:lnSpc>
            </a:pPr>
            <a:r>
              <a:rPr lang="en-US" sz="3563">
                <a:solidFill>
                  <a:srgbClr val="FCD35A"/>
                </a:solidFill>
                <a:latin typeface="Norwester"/>
                <a:ea typeface="Norwester"/>
                <a:cs typeface="Norwester"/>
                <a:sym typeface="Norwester"/>
              </a:rPr>
              <a:t>STEP 1 → OVR</a:t>
            </a:r>
          </a:p>
          <a:p>
            <a:pPr algn="l">
              <a:lnSpc>
                <a:spcPts val="3421"/>
              </a:lnSpc>
            </a:pPr>
            <a:r>
              <a:rPr lang="en-US" sz="3563">
                <a:solidFill>
                  <a:srgbClr val="FCD35A"/>
                </a:solidFill>
                <a:latin typeface="Norwester"/>
                <a:ea typeface="Norwester"/>
                <a:cs typeface="Norwester"/>
                <a:sym typeface="Norwester"/>
              </a:rPr>
              <a:t>S</a:t>
            </a:r>
            <a:r>
              <a:rPr lang="en-US" sz="3563">
                <a:solidFill>
                  <a:srgbClr val="FCD35A"/>
                </a:solidFill>
                <a:latin typeface="Norwester"/>
                <a:ea typeface="Norwester"/>
                <a:cs typeface="Norwester"/>
                <a:sym typeface="Norwester"/>
              </a:rPr>
              <a:t>TEP 2 → TRAIN BIAS EXPERTS</a:t>
            </a:r>
          </a:p>
          <a:p>
            <a:pPr algn="l">
              <a:lnSpc>
                <a:spcPts val="3421"/>
              </a:lnSpc>
            </a:pPr>
            <a:r>
              <a:rPr lang="en-US" sz="3563">
                <a:solidFill>
                  <a:srgbClr val="FCD35A"/>
                </a:solidFill>
                <a:latin typeface="Norwester"/>
                <a:ea typeface="Norwester"/>
                <a:cs typeface="Norwester"/>
                <a:sym typeface="Norwester"/>
              </a:rPr>
              <a:t>STEP 3 → PRODUCT-OF-EXPERTS (POE)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71135" y="8070650"/>
            <a:ext cx="9158822" cy="915882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875832" y="9065067"/>
            <a:ext cx="386466" cy="38646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D35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961700" y="9158584"/>
            <a:ext cx="214731" cy="199431"/>
          </a:xfrm>
          <a:custGeom>
            <a:avLst/>
            <a:gdLst/>
            <a:ahLst/>
            <a:cxnLst/>
            <a:rect r="r" b="b" t="t" l="l"/>
            <a:pathLst>
              <a:path h="199431" w="214731">
                <a:moveTo>
                  <a:pt x="0" y="0"/>
                </a:moveTo>
                <a:lnTo>
                  <a:pt x="214731" y="0"/>
                </a:lnTo>
                <a:lnTo>
                  <a:pt x="214731" y="199432"/>
                </a:lnTo>
                <a:lnTo>
                  <a:pt x="0" y="199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0" y="4672300"/>
            <a:ext cx="18288000" cy="0"/>
          </a:xfrm>
          <a:prstGeom prst="line">
            <a:avLst/>
          </a:prstGeom>
          <a:ln cap="flat" w="38100">
            <a:solidFill>
              <a:srgbClr val="FFFFFF">
                <a:alpha val="47843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2347974" y="4140261"/>
            <a:ext cx="1064077" cy="106407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D35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611962" y="4140261"/>
            <a:ext cx="1064077" cy="106407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A36E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47261" y="4140261"/>
            <a:ext cx="1064077" cy="1064077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-3915468" y="-7202831"/>
            <a:ext cx="9158822" cy="915882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4164203" y="641033"/>
            <a:ext cx="4979797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9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ONE-VS-REST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43929" y="1711642"/>
            <a:ext cx="16264218" cy="83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6500">
                <a:solidFill>
                  <a:srgbClr val="FCD35A"/>
                </a:solidFill>
                <a:latin typeface="Norwester"/>
                <a:ea typeface="Norwester"/>
                <a:cs typeface="Norwester"/>
                <a:sym typeface="Norwester"/>
              </a:rPr>
              <a:t>FOR K CLASSES → CREATE K BINARY DATASETS: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74027" y="5605739"/>
            <a:ext cx="5403672" cy="2819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15"/>
              </a:lnSpc>
            </a:pPr>
            <a:r>
              <a:rPr lang="en-US" sz="43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EXAMPLE MNLI:</a:t>
            </a:r>
          </a:p>
          <a:p>
            <a:pPr algn="just">
              <a:lnSpc>
                <a:spcPts val="4515"/>
              </a:lnSpc>
            </a:pPr>
            <a:r>
              <a:rPr lang="en-US" sz="43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CONTRADICTION VS REST</a:t>
            </a:r>
          </a:p>
          <a:p>
            <a:pPr algn="just">
              <a:lnSpc>
                <a:spcPts val="4515"/>
              </a:lnSpc>
            </a:pPr>
            <a:r>
              <a:rPr lang="en-US" sz="43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ENTAILMENT VS REST</a:t>
            </a:r>
          </a:p>
          <a:p>
            <a:pPr algn="just">
              <a:lnSpc>
                <a:spcPts val="4515"/>
              </a:lnSpc>
            </a:pPr>
            <a:r>
              <a:rPr lang="en-US" sz="43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NEUTRAL VS REST</a:t>
            </a:r>
          </a:p>
          <a:p>
            <a:pPr algn="just">
              <a:lnSpc>
                <a:spcPts val="4515"/>
              </a:lnSpc>
            </a:pP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9676038" y="8779269"/>
            <a:ext cx="1057660" cy="1157494"/>
          </a:xfrm>
          <a:custGeom>
            <a:avLst/>
            <a:gdLst/>
            <a:ahLst/>
            <a:cxnLst/>
            <a:rect r="r" b="b" t="t" l="l"/>
            <a:pathLst>
              <a:path h="1157494" w="1057660">
                <a:moveTo>
                  <a:pt x="0" y="0"/>
                </a:moveTo>
                <a:lnTo>
                  <a:pt x="1057660" y="0"/>
                </a:lnTo>
                <a:lnTo>
                  <a:pt x="1057660" y="1157494"/>
                </a:lnTo>
                <a:lnTo>
                  <a:pt x="0" y="11574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6515774" y="2273403"/>
            <a:ext cx="765860" cy="838150"/>
          </a:xfrm>
          <a:custGeom>
            <a:avLst/>
            <a:gdLst/>
            <a:ahLst/>
            <a:cxnLst/>
            <a:rect r="r" b="b" t="t" l="l"/>
            <a:pathLst>
              <a:path h="838150" w="765860">
                <a:moveTo>
                  <a:pt x="0" y="0"/>
                </a:moveTo>
                <a:lnTo>
                  <a:pt x="765859" y="0"/>
                </a:lnTo>
                <a:lnTo>
                  <a:pt x="765859" y="838151"/>
                </a:lnTo>
                <a:lnTo>
                  <a:pt x="0" y="8381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878638" y="2273403"/>
            <a:ext cx="915922" cy="1002377"/>
          </a:xfrm>
          <a:custGeom>
            <a:avLst/>
            <a:gdLst/>
            <a:ahLst/>
            <a:cxnLst/>
            <a:rect r="r" b="b" t="t" l="l"/>
            <a:pathLst>
              <a:path h="1002377" w="915922">
                <a:moveTo>
                  <a:pt x="0" y="0"/>
                </a:moveTo>
                <a:lnTo>
                  <a:pt x="915922" y="0"/>
                </a:lnTo>
                <a:lnTo>
                  <a:pt x="915922" y="1002377"/>
                </a:lnTo>
                <a:lnTo>
                  <a:pt x="0" y="10023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6677407" y="5533693"/>
            <a:ext cx="5403672" cy="289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5"/>
              </a:lnSpc>
            </a:pPr>
            <a:r>
              <a:rPr lang="en-US" sz="43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REMOVES SOFTMAX COMPETITION</a:t>
            </a:r>
          </a:p>
          <a:p>
            <a:pPr algn="l">
              <a:lnSpc>
                <a:spcPts val="4515"/>
              </a:lnSpc>
            </a:pPr>
            <a:r>
              <a:rPr lang="en-US" sz="43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 ALLOWS INDEPENDENT BIAS LEARNING</a:t>
            </a:r>
          </a:p>
          <a:p>
            <a:pPr algn="l">
              <a:lnSpc>
                <a:spcPts val="4515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3146874" y="5465646"/>
            <a:ext cx="5403672" cy="59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5"/>
              </a:lnSpc>
            </a:pPr>
            <a:r>
              <a:rPr lang="en-US" sz="4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Bi = {(x, 1y=i)}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48089" y="6310158"/>
            <a:ext cx="9158822" cy="915882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086340" y="8872786"/>
            <a:ext cx="1057660" cy="1157494"/>
          </a:xfrm>
          <a:custGeom>
            <a:avLst/>
            <a:gdLst/>
            <a:ahLst/>
            <a:cxnLst/>
            <a:rect r="r" b="b" t="t" l="l"/>
            <a:pathLst>
              <a:path h="1157494" w="1057660">
                <a:moveTo>
                  <a:pt x="0" y="0"/>
                </a:moveTo>
                <a:lnTo>
                  <a:pt x="1057660" y="0"/>
                </a:lnTo>
                <a:lnTo>
                  <a:pt x="1057660" y="1157494"/>
                </a:lnTo>
                <a:lnTo>
                  <a:pt x="0" y="1157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530823" y="9032458"/>
            <a:ext cx="765860" cy="838150"/>
          </a:xfrm>
          <a:custGeom>
            <a:avLst/>
            <a:gdLst/>
            <a:ahLst/>
            <a:cxnLst/>
            <a:rect r="r" b="b" t="t" l="l"/>
            <a:pathLst>
              <a:path h="838150" w="765860">
                <a:moveTo>
                  <a:pt x="0" y="0"/>
                </a:moveTo>
                <a:lnTo>
                  <a:pt x="765859" y="0"/>
                </a:lnTo>
                <a:lnTo>
                  <a:pt x="765859" y="838150"/>
                </a:lnTo>
                <a:lnTo>
                  <a:pt x="0" y="838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86039" y="3097904"/>
            <a:ext cx="915922" cy="1002377"/>
          </a:xfrm>
          <a:custGeom>
            <a:avLst/>
            <a:gdLst/>
            <a:ahLst/>
            <a:cxnLst/>
            <a:rect r="r" b="b" t="t" l="l"/>
            <a:pathLst>
              <a:path h="1002377" w="915922">
                <a:moveTo>
                  <a:pt x="0" y="0"/>
                </a:moveTo>
                <a:lnTo>
                  <a:pt x="915922" y="0"/>
                </a:lnTo>
                <a:lnTo>
                  <a:pt x="915922" y="1002377"/>
                </a:lnTo>
                <a:lnTo>
                  <a:pt x="0" y="10023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875832" y="9065067"/>
            <a:ext cx="386466" cy="38646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D35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961700" y="9158584"/>
            <a:ext cx="214731" cy="199431"/>
          </a:xfrm>
          <a:custGeom>
            <a:avLst/>
            <a:gdLst/>
            <a:ahLst/>
            <a:cxnLst/>
            <a:rect r="r" b="b" t="t" l="l"/>
            <a:pathLst>
              <a:path h="199431" w="214731">
                <a:moveTo>
                  <a:pt x="0" y="0"/>
                </a:moveTo>
                <a:lnTo>
                  <a:pt x="214731" y="0"/>
                </a:lnTo>
                <a:lnTo>
                  <a:pt x="214731" y="199432"/>
                </a:lnTo>
                <a:lnTo>
                  <a:pt x="0" y="1994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7791566" y="5609823"/>
            <a:ext cx="1069386" cy="106938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D35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791566" y="7245227"/>
            <a:ext cx="1069386" cy="106938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A36E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-3915468" y="-7202831"/>
            <a:ext cx="9158822" cy="9158822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465251" y="649615"/>
            <a:ext cx="6603814" cy="1306376"/>
            <a:chOff x="0" y="0"/>
            <a:chExt cx="2274715" cy="44998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74715" cy="449988"/>
            </a:xfrm>
            <a:custGeom>
              <a:avLst/>
              <a:gdLst/>
              <a:ahLst/>
              <a:cxnLst/>
              <a:rect r="r" b="b" t="t" l="l"/>
              <a:pathLst>
                <a:path h="449988" w="2274715">
                  <a:moveTo>
                    <a:pt x="42204" y="0"/>
                  </a:moveTo>
                  <a:lnTo>
                    <a:pt x="2232511" y="0"/>
                  </a:lnTo>
                  <a:cubicBezTo>
                    <a:pt x="2255819" y="0"/>
                    <a:pt x="2274715" y="18895"/>
                    <a:pt x="2274715" y="42204"/>
                  </a:cubicBezTo>
                  <a:lnTo>
                    <a:pt x="2274715" y="407783"/>
                  </a:lnTo>
                  <a:cubicBezTo>
                    <a:pt x="2274715" y="431092"/>
                    <a:pt x="2255819" y="449988"/>
                    <a:pt x="2232511" y="449988"/>
                  </a:cubicBezTo>
                  <a:lnTo>
                    <a:pt x="42204" y="449988"/>
                  </a:lnTo>
                  <a:cubicBezTo>
                    <a:pt x="18895" y="449988"/>
                    <a:pt x="0" y="431092"/>
                    <a:pt x="0" y="407783"/>
                  </a:cubicBezTo>
                  <a:lnTo>
                    <a:pt x="0" y="42204"/>
                  </a:lnTo>
                  <a:cubicBezTo>
                    <a:pt x="0" y="18895"/>
                    <a:pt x="18895" y="0"/>
                    <a:pt x="42204" y="0"/>
                  </a:cubicBezTo>
                  <a:close/>
                </a:path>
              </a:pathLst>
            </a:custGeom>
            <a:blipFill>
              <a:blip r:embed="rId10"/>
              <a:stretch>
                <a:fillRect l="0" t="-10134" r="0" b="-10134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0465251" y="2168218"/>
            <a:ext cx="6610362" cy="1327972"/>
            <a:chOff x="0" y="0"/>
            <a:chExt cx="2551208" cy="51251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551208" cy="512518"/>
            </a:xfrm>
            <a:custGeom>
              <a:avLst/>
              <a:gdLst/>
              <a:ahLst/>
              <a:cxnLst/>
              <a:rect r="r" b="b" t="t" l="l"/>
              <a:pathLst>
                <a:path h="512518" w="2551208">
                  <a:moveTo>
                    <a:pt x="42162" y="0"/>
                  </a:moveTo>
                  <a:lnTo>
                    <a:pt x="2509045" y="0"/>
                  </a:lnTo>
                  <a:cubicBezTo>
                    <a:pt x="2532331" y="0"/>
                    <a:pt x="2551208" y="18877"/>
                    <a:pt x="2551208" y="42162"/>
                  </a:cubicBezTo>
                  <a:lnTo>
                    <a:pt x="2551208" y="470356"/>
                  </a:lnTo>
                  <a:cubicBezTo>
                    <a:pt x="2551208" y="493642"/>
                    <a:pt x="2532331" y="512518"/>
                    <a:pt x="2509045" y="512518"/>
                  </a:cubicBezTo>
                  <a:lnTo>
                    <a:pt x="42162" y="512518"/>
                  </a:lnTo>
                  <a:cubicBezTo>
                    <a:pt x="18877" y="512518"/>
                    <a:pt x="0" y="493642"/>
                    <a:pt x="0" y="470356"/>
                  </a:cubicBezTo>
                  <a:lnTo>
                    <a:pt x="0" y="42162"/>
                  </a:lnTo>
                  <a:cubicBezTo>
                    <a:pt x="0" y="18877"/>
                    <a:pt x="18877" y="0"/>
                    <a:pt x="42162" y="0"/>
                  </a:cubicBezTo>
                  <a:close/>
                </a:path>
              </a:pathLst>
            </a:custGeom>
            <a:blipFill>
              <a:blip r:embed="rId11"/>
              <a:stretch>
                <a:fillRect l="-1026" t="0" r="-1026" b="0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0465251" y="3705740"/>
            <a:ext cx="6603814" cy="1294484"/>
            <a:chOff x="0" y="0"/>
            <a:chExt cx="2614615" cy="51251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614615" cy="512518"/>
            </a:xfrm>
            <a:custGeom>
              <a:avLst/>
              <a:gdLst/>
              <a:ahLst/>
              <a:cxnLst/>
              <a:rect r="r" b="b" t="t" l="l"/>
              <a:pathLst>
                <a:path h="512518" w="2614615">
                  <a:moveTo>
                    <a:pt x="42204" y="0"/>
                  </a:moveTo>
                  <a:lnTo>
                    <a:pt x="2572411" y="0"/>
                  </a:lnTo>
                  <a:cubicBezTo>
                    <a:pt x="2595720" y="0"/>
                    <a:pt x="2614615" y="18895"/>
                    <a:pt x="2614615" y="42204"/>
                  </a:cubicBezTo>
                  <a:lnTo>
                    <a:pt x="2614615" y="470314"/>
                  </a:lnTo>
                  <a:cubicBezTo>
                    <a:pt x="2614615" y="493623"/>
                    <a:pt x="2595720" y="512518"/>
                    <a:pt x="2572411" y="512518"/>
                  </a:cubicBezTo>
                  <a:lnTo>
                    <a:pt x="42204" y="512518"/>
                  </a:lnTo>
                  <a:cubicBezTo>
                    <a:pt x="18895" y="512518"/>
                    <a:pt x="0" y="493623"/>
                    <a:pt x="0" y="470314"/>
                  </a:cubicBezTo>
                  <a:lnTo>
                    <a:pt x="0" y="42204"/>
                  </a:lnTo>
                  <a:cubicBezTo>
                    <a:pt x="0" y="18895"/>
                    <a:pt x="18895" y="0"/>
                    <a:pt x="42204" y="0"/>
                  </a:cubicBezTo>
                  <a:close/>
                </a:path>
              </a:pathLst>
            </a:custGeom>
            <a:blipFill>
              <a:blip r:embed="rId12"/>
              <a:stretch>
                <a:fillRect l="0" t="-4526" r="0" b="-4526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27" id="27"/>
          <p:cNvSpPr/>
          <p:nvPr/>
        </p:nvSpPr>
        <p:spPr>
          <a:xfrm flipH="false" flipV="false" rot="0">
            <a:off x="663943" y="4213603"/>
            <a:ext cx="6744891" cy="5657005"/>
          </a:xfrm>
          <a:custGeom>
            <a:avLst/>
            <a:gdLst/>
            <a:ahLst/>
            <a:cxnLst/>
            <a:rect r="r" b="b" t="t" l="l"/>
            <a:pathLst>
              <a:path h="5657005" w="6744891">
                <a:moveTo>
                  <a:pt x="0" y="0"/>
                </a:moveTo>
                <a:lnTo>
                  <a:pt x="6744891" y="0"/>
                </a:lnTo>
                <a:lnTo>
                  <a:pt x="6744891" y="5657005"/>
                </a:lnTo>
                <a:lnTo>
                  <a:pt x="0" y="56570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7791566" y="5919904"/>
            <a:ext cx="1069386" cy="531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6"/>
              </a:lnSpc>
            </a:pPr>
            <a:r>
              <a:rPr lang="en-US" sz="3824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01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791566" y="7538103"/>
            <a:ext cx="1069386" cy="531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6"/>
              </a:lnSpc>
            </a:pPr>
            <a:r>
              <a:rPr lang="en-US" sz="3824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02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89976" y="798569"/>
            <a:ext cx="7643337" cy="176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9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BIAS AMPLIFICATION MECHANISM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36419" y="2621654"/>
            <a:ext cx="7589809" cy="1583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6"/>
              </a:lnSpc>
            </a:pPr>
            <a:r>
              <a:rPr lang="en-US" sz="2579">
                <a:solidFill>
                  <a:srgbClr val="FCD35A"/>
                </a:solidFill>
                <a:latin typeface="Norwester"/>
                <a:ea typeface="Norwester"/>
                <a:cs typeface="Norwester"/>
                <a:sym typeface="Norwester"/>
              </a:rPr>
              <a:t>LOSS FUNCTIONS:</a:t>
            </a:r>
          </a:p>
          <a:p>
            <a:pPr algn="l">
              <a:lnSpc>
                <a:spcPts val="2476"/>
              </a:lnSpc>
            </a:pPr>
            <a:r>
              <a:rPr lang="en-US" sz="2579">
                <a:solidFill>
                  <a:srgbClr val="FCD35A"/>
                </a:solidFill>
                <a:latin typeface="Norwester"/>
                <a:ea typeface="Norwester"/>
                <a:cs typeface="Norwester"/>
                <a:sym typeface="Norwester"/>
              </a:rPr>
              <a:t>L_TARGET</a:t>
            </a:r>
          </a:p>
          <a:p>
            <a:pPr algn="l">
              <a:lnSpc>
                <a:spcPts val="2476"/>
              </a:lnSpc>
            </a:pPr>
            <a:r>
              <a:rPr lang="en-US" sz="2579">
                <a:solidFill>
                  <a:srgbClr val="FCD35A"/>
                </a:solidFill>
                <a:latin typeface="Norwester"/>
                <a:ea typeface="Norwester"/>
                <a:cs typeface="Norwester"/>
                <a:sym typeface="Norwester"/>
              </a:rPr>
              <a:t> L_NON-TARGET</a:t>
            </a:r>
          </a:p>
          <a:p>
            <a:pPr algn="l">
              <a:lnSpc>
                <a:spcPts val="2476"/>
              </a:lnSpc>
            </a:pPr>
            <a:r>
              <a:rPr lang="en-US" sz="2579">
                <a:solidFill>
                  <a:srgbClr val="FCD35A"/>
                </a:solidFill>
                <a:latin typeface="Norwester"/>
                <a:ea typeface="Norwester"/>
                <a:cs typeface="Norwester"/>
                <a:sym typeface="Norwester"/>
              </a:rPr>
              <a:t> HYPERPARAMETER Α CONTROLS AMPLIFICATION</a:t>
            </a:r>
          </a:p>
          <a:p>
            <a:pPr algn="l">
              <a:lnSpc>
                <a:spcPts val="2476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9419027" y="5739900"/>
            <a:ext cx="6757467" cy="752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75"/>
              </a:lnSpc>
              <a:spcBef>
                <a:spcPct val="0"/>
              </a:spcBef>
            </a:pPr>
            <a:r>
              <a:rPr lang="en-US" sz="2125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α ↑</a:t>
            </a:r>
            <a:r>
              <a:rPr lang="en-US" sz="2125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→ stronger bias learning</a:t>
            </a:r>
          </a:p>
          <a:p>
            <a:pPr algn="l" marL="0" indent="0" lvl="0">
              <a:lnSpc>
                <a:spcPts val="2975"/>
              </a:lnSpc>
              <a:spcBef>
                <a:spcPct val="0"/>
              </a:spcBef>
            </a:pPr>
            <a:r>
              <a:rPr lang="en-US" sz="2125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Too high → performa</a:t>
            </a:r>
            <a:r>
              <a:rPr lang="en-US" sz="2125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125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ce </a:t>
            </a:r>
            <a:r>
              <a:rPr lang="en-US" sz="2125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125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ro</a:t>
            </a:r>
            <a:r>
              <a:rPr lang="en-US" sz="2125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419027" y="7188077"/>
            <a:ext cx="6493629" cy="752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75"/>
              </a:lnSpc>
              <a:spcBef>
                <a:spcPct val="0"/>
              </a:spcBef>
            </a:pPr>
            <a:r>
              <a:rPr lang="en-US" sz="2125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Perf</a:t>
            </a:r>
            <a:r>
              <a:rPr lang="en-US" sz="2125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ormance drop after α &gt; 0.2</a:t>
            </a:r>
          </a:p>
          <a:p>
            <a:pPr algn="l" marL="0" indent="0" lvl="0">
              <a:lnSpc>
                <a:spcPts val="297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875832" y="9065067"/>
            <a:ext cx="386466" cy="38646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D35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961700" y="9158584"/>
            <a:ext cx="214731" cy="199431"/>
          </a:xfrm>
          <a:custGeom>
            <a:avLst/>
            <a:gdLst/>
            <a:ahLst/>
            <a:cxnLst/>
            <a:rect r="r" b="b" t="t" l="l"/>
            <a:pathLst>
              <a:path h="199431" w="214731">
                <a:moveTo>
                  <a:pt x="0" y="0"/>
                </a:moveTo>
                <a:lnTo>
                  <a:pt x="214731" y="0"/>
                </a:lnTo>
                <a:lnTo>
                  <a:pt x="214731" y="199432"/>
                </a:lnTo>
                <a:lnTo>
                  <a:pt x="0" y="199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3915468" y="-7202831"/>
            <a:ext cx="9158822" cy="915882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446492" y="2592856"/>
            <a:ext cx="12815807" cy="1974408"/>
            <a:chOff x="0" y="0"/>
            <a:chExt cx="3441650" cy="5302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41650" cy="530222"/>
            </a:xfrm>
            <a:custGeom>
              <a:avLst/>
              <a:gdLst/>
              <a:ahLst/>
              <a:cxnLst/>
              <a:rect r="r" b="b" t="t" l="l"/>
              <a:pathLst>
                <a:path h="530222" w="3441650">
                  <a:moveTo>
                    <a:pt x="21747" y="0"/>
                  </a:moveTo>
                  <a:lnTo>
                    <a:pt x="3419903" y="0"/>
                  </a:lnTo>
                  <a:cubicBezTo>
                    <a:pt x="3431913" y="0"/>
                    <a:pt x="3441650" y="9737"/>
                    <a:pt x="3441650" y="21747"/>
                  </a:cubicBezTo>
                  <a:lnTo>
                    <a:pt x="3441650" y="508474"/>
                  </a:lnTo>
                  <a:cubicBezTo>
                    <a:pt x="3441650" y="514242"/>
                    <a:pt x="3439359" y="519774"/>
                    <a:pt x="3435280" y="523852"/>
                  </a:cubicBezTo>
                  <a:cubicBezTo>
                    <a:pt x="3431202" y="527931"/>
                    <a:pt x="3425670" y="530222"/>
                    <a:pt x="3419903" y="530222"/>
                  </a:cubicBezTo>
                  <a:lnTo>
                    <a:pt x="21747" y="530222"/>
                  </a:lnTo>
                  <a:cubicBezTo>
                    <a:pt x="9737" y="530222"/>
                    <a:pt x="0" y="520485"/>
                    <a:pt x="0" y="508474"/>
                  </a:cubicBezTo>
                  <a:lnTo>
                    <a:pt x="0" y="21747"/>
                  </a:lnTo>
                  <a:cubicBezTo>
                    <a:pt x="0" y="9737"/>
                    <a:pt x="9737" y="0"/>
                    <a:pt x="21747" y="0"/>
                  </a:cubicBezTo>
                  <a:close/>
                </a:path>
              </a:pathLst>
            </a:custGeom>
            <a:blipFill>
              <a:blip r:embed="rId4"/>
              <a:stretch>
                <a:fillRect l="-3343" t="0" r="-3343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7246557" y="1955991"/>
            <a:ext cx="915922" cy="1002377"/>
          </a:xfrm>
          <a:custGeom>
            <a:avLst/>
            <a:gdLst/>
            <a:ahLst/>
            <a:cxnLst/>
            <a:rect r="r" b="b" t="t" l="l"/>
            <a:pathLst>
              <a:path h="1002377" w="915922">
                <a:moveTo>
                  <a:pt x="0" y="0"/>
                </a:moveTo>
                <a:lnTo>
                  <a:pt x="915922" y="0"/>
                </a:lnTo>
                <a:lnTo>
                  <a:pt x="915922" y="1002377"/>
                </a:lnTo>
                <a:lnTo>
                  <a:pt x="0" y="10023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78512" y="966400"/>
            <a:ext cx="5186823" cy="2613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9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PRODUCT OF EXPERTS (POE)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80012" y="5694436"/>
            <a:ext cx="14081688" cy="176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999">
                <a:solidFill>
                  <a:srgbClr val="FCD35A"/>
                </a:solidFill>
                <a:latin typeface="Norwester"/>
                <a:ea typeface="Norwester"/>
                <a:cs typeface="Norwester"/>
                <a:sym typeface="Norwester"/>
              </a:rPr>
              <a:t>IF BIAS EXPERT CONFIDENT → REDUCES MAIN MODEL WEIGHT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1554" y="8198995"/>
            <a:ext cx="5575175" cy="2175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4"/>
              </a:lnSpc>
            </a:pPr>
            <a:r>
              <a:rPr lang="en-US" sz="4156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BIAS EXPERTS FROZEN DURING MAIN TRAINING.</a:t>
            </a:r>
          </a:p>
          <a:p>
            <a:pPr algn="l">
              <a:lnSpc>
                <a:spcPts val="4364"/>
              </a:lnSpc>
            </a:pPr>
          </a:p>
          <a:p>
            <a:pPr algn="l">
              <a:lnSpc>
                <a:spcPts val="4364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25644" y="-6314338"/>
            <a:ext cx="9158822" cy="915882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875832" y="9065067"/>
            <a:ext cx="386466" cy="38646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D35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961700" y="9158584"/>
            <a:ext cx="214731" cy="199431"/>
          </a:xfrm>
          <a:custGeom>
            <a:avLst/>
            <a:gdLst/>
            <a:ahLst/>
            <a:cxnLst/>
            <a:rect r="r" b="b" t="t" l="l"/>
            <a:pathLst>
              <a:path h="199431" w="214731">
                <a:moveTo>
                  <a:pt x="0" y="0"/>
                </a:moveTo>
                <a:lnTo>
                  <a:pt x="214731" y="0"/>
                </a:lnTo>
                <a:lnTo>
                  <a:pt x="214731" y="199432"/>
                </a:lnTo>
                <a:lnTo>
                  <a:pt x="0" y="199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05992" y="2118196"/>
            <a:ext cx="11544192" cy="6050608"/>
            <a:chOff x="0" y="0"/>
            <a:chExt cx="1788497" cy="93739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88497" cy="937398"/>
            </a:xfrm>
            <a:custGeom>
              <a:avLst/>
              <a:gdLst/>
              <a:ahLst/>
              <a:cxnLst/>
              <a:rect r="r" b="b" t="t" l="l"/>
              <a:pathLst>
                <a:path h="937398" w="1788497">
                  <a:moveTo>
                    <a:pt x="24143" y="0"/>
                  </a:moveTo>
                  <a:lnTo>
                    <a:pt x="1764355" y="0"/>
                  </a:lnTo>
                  <a:cubicBezTo>
                    <a:pt x="1777688" y="0"/>
                    <a:pt x="1788497" y="10809"/>
                    <a:pt x="1788497" y="24143"/>
                  </a:cubicBezTo>
                  <a:lnTo>
                    <a:pt x="1788497" y="913255"/>
                  </a:lnTo>
                  <a:cubicBezTo>
                    <a:pt x="1788497" y="919658"/>
                    <a:pt x="1785954" y="925799"/>
                    <a:pt x="1781426" y="930326"/>
                  </a:cubicBezTo>
                  <a:cubicBezTo>
                    <a:pt x="1776899" y="934854"/>
                    <a:pt x="1770758" y="937398"/>
                    <a:pt x="1764355" y="937398"/>
                  </a:cubicBezTo>
                  <a:lnTo>
                    <a:pt x="24143" y="937398"/>
                  </a:lnTo>
                  <a:cubicBezTo>
                    <a:pt x="17740" y="937398"/>
                    <a:pt x="11599" y="934854"/>
                    <a:pt x="7071" y="930326"/>
                  </a:cubicBezTo>
                  <a:cubicBezTo>
                    <a:pt x="2544" y="925799"/>
                    <a:pt x="0" y="919658"/>
                    <a:pt x="0" y="913255"/>
                  </a:cubicBezTo>
                  <a:lnTo>
                    <a:pt x="0" y="24143"/>
                  </a:lnTo>
                  <a:cubicBezTo>
                    <a:pt x="0" y="17740"/>
                    <a:pt x="2544" y="11599"/>
                    <a:pt x="7071" y="7071"/>
                  </a:cubicBezTo>
                  <a:cubicBezTo>
                    <a:pt x="11599" y="2544"/>
                    <a:pt x="17740" y="0"/>
                    <a:pt x="24143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83" r="0" b="-83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3569697" y="7293165"/>
            <a:ext cx="9158822" cy="915882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862052" y="8779269"/>
            <a:ext cx="1057660" cy="1157494"/>
          </a:xfrm>
          <a:custGeom>
            <a:avLst/>
            <a:gdLst/>
            <a:ahLst/>
            <a:cxnLst/>
            <a:rect r="r" b="b" t="t" l="l"/>
            <a:pathLst>
              <a:path h="1157494" w="1057660">
                <a:moveTo>
                  <a:pt x="0" y="0"/>
                </a:moveTo>
                <a:lnTo>
                  <a:pt x="1057660" y="0"/>
                </a:lnTo>
                <a:lnTo>
                  <a:pt x="1057660" y="1157494"/>
                </a:lnTo>
                <a:lnTo>
                  <a:pt x="0" y="11574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062168" y="8807640"/>
            <a:ext cx="765860" cy="838150"/>
          </a:xfrm>
          <a:custGeom>
            <a:avLst/>
            <a:gdLst/>
            <a:ahLst/>
            <a:cxnLst/>
            <a:rect r="r" b="b" t="t" l="l"/>
            <a:pathLst>
              <a:path h="838150" w="765860">
                <a:moveTo>
                  <a:pt x="0" y="0"/>
                </a:moveTo>
                <a:lnTo>
                  <a:pt x="765860" y="0"/>
                </a:lnTo>
                <a:lnTo>
                  <a:pt x="765860" y="838151"/>
                </a:lnTo>
                <a:lnTo>
                  <a:pt x="0" y="8381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961700" y="4236564"/>
            <a:ext cx="915922" cy="1002377"/>
          </a:xfrm>
          <a:custGeom>
            <a:avLst/>
            <a:gdLst/>
            <a:ahLst/>
            <a:cxnLst/>
            <a:rect r="r" b="b" t="t" l="l"/>
            <a:pathLst>
              <a:path h="1002377" w="915922">
                <a:moveTo>
                  <a:pt x="0" y="0"/>
                </a:moveTo>
                <a:lnTo>
                  <a:pt x="915922" y="0"/>
                </a:lnTo>
                <a:lnTo>
                  <a:pt x="915922" y="1002376"/>
                </a:lnTo>
                <a:lnTo>
                  <a:pt x="0" y="100237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350184" y="706908"/>
            <a:ext cx="6587483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9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MAIN RESULTS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62650" y="2529993"/>
            <a:ext cx="5562551" cy="1706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6"/>
              </a:lnSpc>
            </a:pPr>
          </a:p>
          <a:p>
            <a:pPr algn="l">
              <a:lnSpc>
                <a:spcPts val="3306"/>
              </a:lnSpc>
            </a:pPr>
            <a:r>
              <a:rPr lang="en-US" sz="3443">
                <a:solidFill>
                  <a:srgbClr val="FCD35A"/>
                </a:solidFill>
                <a:latin typeface="Norwester"/>
                <a:ea typeface="Norwester"/>
                <a:cs typeface="Norwester"/>
                <a:sym typeface="Norwester"/>
              </a:rPr>
              <a:t> H</a:t>
            </a:r>
            <a:r>
              <a:rPr lang="en-US" sz="3443">
                <a:solidFill>
                  <a:srgbClr val="FCD35A"/>
                </a:solidFill>
                <a:latin typeface="Norwester"/>
                <a:ea typeface="Norwester"/>
                <a:cs typeface="Norwester"/>
                <a:sym typeface="Norwester"/>
              </a:rPr>
              <a:t>ANS: 72.6</a:t>
            </a:r>
          </a:p>
          <a:p>
            <a:pPr algn="l">
              <a:lnSpc>
                <a:spcPts val="3306"/>
              </a:lnSpc>
            </a:pPr>
            <a:r>
              <a:rPr lang="en-US" sz="3443">
                <a:solidFill>
                  <a:srgbClr val="FCD35A"/>
                </a:solidFill>
                <a:latin typeface="Norwester"/>
                <a:ea typeface="Norwester"/>
                <a:cs typeface="Norwester"/>
                <a:sym typeface="Norwester"/>
              </a:rPr>
              <a:t> FEVER SYMMETRIC: 68.1</a:t>
            </a:r>
          </a:p>
          <a:p>
            <a:pPr algn="l">
              <a:lnSpc>
                <a:spcPts val="3306"/>
              </a:lnSpc>
            </a:pPr>
            <a:r>
              <a:rPr lang="en-US" sz="3443">
                <a:solidFill>
                  <a:srgbClr val="FCD35A"/>
                </a:solidFill>
                <a:latin typeface="Norwester"/>
                <a:ea typeface="Norwester"/>
                <a:cs typeface="Norwester"/>
                <a:sym typeface="Norwester"/>
              </a:rPr>
              <a:t> PAWS: 58.1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862650" y="5017614"/>
            <a:ext cx="5870447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Co</a:t>
            </a: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nsistent OOD improvement</a:t>
            </a:r>
          </a:p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 strike="noStrike" u="none">
                <a:solidFill>
                  <a:srgbClr val="FFFFFF">
                    <a:alpha val="5372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Smaller ID-OOD gap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25644" y="-6314338"/>
            <a:ext cx="9158822" cy="915882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875832" y="9065067"/>
            <a:ext cx="386466" cy="38646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D35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961700" y="9158584"/>
            <a:ext cx="214731" cy="199431"/>
          </a:xfrm>
          <a:custGeom>
            <a:avLst/>
            <a:gdLst/>
            <a:ahLst/>
            <a:cxnLst/>
            <a:rect r="r" b="b" t="t" l="l"/>
            <a:pathLst>
              <a:path h="199431" w="214731">
                <a:moveTo>
                  <a:pt x="0" y="0"/>
                </a:moveTo>
                <a:lnTo>
                  <a:pt x="214731" y="0"/>
                </a:lnTo>
                <a:lnTo>
                  <a:pt x="214731" y="199432"/>
                </a:lnTo>
                <a:lnTo>
                  <a:pt x="0" y="199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05992" y="2118196"/>
            <a:ext cx="6264895" cy="3283593"/>
            <a:chOff x="0" y="0"/>
            <a:chExt cx="1788497" cy="93739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88497" cy="937398"/>
            </a:xfrm>
            <a:custGeom>
              <a:avLst/>
              <a:gdLst/>
              <a:ahLst/>
              <a:cxnLst/>
              <a:rect r="r" b="b" t="t" l="l"/>
              <a:pathLst>
                <a:path h="937398" w="1788497">
                  <a:moveTo>
                    <a:pt x="44487" y="0"/>
                  </a:moveTo>
                  <a:lnTo>
                    <a:pt x="1744010" y="0"/>
                  </a:lnTo>
                  <a:cubicBezTo>
                    <a:pt x="1755809" y="0"/>
                    <a:pt x="1767124" y="4687"/>
                    <a:pt x="1775467" y="13030"/>
                  </a:cubicBezTo>
                  <a:cubicBezTo>
                    <a:pt x="1783810" y="21373"/>
                    <a:pt x="1788497" y="32689"/>
                    <a:pt x="1788497" y="44487"/>
                  </a:cubicBezTo>
                  <a:lnTo>
                    <a:pt x="1788497" y="892910"/>
                  </a:lnTo>
                  <a:cubicBezTo>
                    <a:pt x="1788497" y="904709"/>
                    <a:pt x="1783810" y="916024"/>
                    <a:pt x="1775467" y="924367"/>
                  </a:cubicBezTo>
                  <a:cubicBezTo>
                    <a:pt x="1767124" y="932711"/>
                    <a:pt x="1755809" y="937398"/>
                    <a:pt x="1744010" y="937398"/>
                  </a:cubicBezTo>
                  <a:lnTo>
                    <a:pt x="44487" y="937398"/>
                  </a:lnTo>
                  <a:cubicBezTo>
                    <a:pt x="32689" y="937398"/>
                    <a:pt x="21373" y="932711"/>
                    <a:pt x="13030" y="924367"/>
                  </a:cubicBezTo>
                  <a:cubicBezTo>
                    <a:pt x="4687" y="916024"/>
                    <a:pt x="0" y="904709"/>
                    <a:pt x="0" y="892910"/>
                  </a:cubicBezTo>
                  <a:lnTo>
                    <a:pt x="0" y="44487"/>
                  </a:lnTo>
                  <a:cubicBezTo>
                    <a:pt x="0" y="32689"/>
                    <a:pt x="4687" y="21373"/>
                    <a:pt x="13030" y="13030"/>
                  </a:cubicBezTo>
                  <a:cubicBezTo>
                    <a:pt x="21373" y="4687"/>
                    <a:pt x="32689" y="0"/>
                    <a:pt x="44487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252" r="0" b="-3252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3569697" y="7293165"/>
            <a:ext cx="9158822" cy="915882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862052" y="8779269"/>
            <a:ext cx="1057660" cy="1157494"/>
          </a:xfrm>
          <a:custGeom>
            <a:avLst/>
            <a:gdLst/>
            <a:ahLst/>
            <a:cxnLst/>
            <a:rect r="r" b="b" t="t" l="l"/>
            <a:pathLst>
              <a:path h="1157494" w="1057660">
                <a:moveTo>
                  <a:pt x="0" y="0"/>
                </a:moveTo>
                <a:lnTo>
                  <a:pt x="1057660" y="0"/>
                </a:lnTo>
                <a:lnTo>
                  <a:pt x="1057660" y="1157494"/>
                </a:lnTo>
                <a:lnTo>
                  <a:pt x="0" y="11574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062168" y="8807640"/>
            <a:ext cx="765860" cy="838150"/>
          </a:xfrm>
          <a:custGeom>
            <a:avLst/>
            <a:gdLst/>
            <a:ahLst/>
            <a:cxnLst/>
            <a:rect r="r" b="b" t="t" l="l"/>
            <a:pathLst>
              <a:path h="838150" w="765860">
                <a:moveTo>
                  <a:pt x="0" y="0"/>
                </a:moveTo>
                <a:lnTo>
                  <a:pt x="765860" y="0"/>
                </a:lnTo>
                <a:lnTo>
                  <a:pt x="765860" y="838151"/>
                </a:lnTo>
                <a:lnTo>
                  <a:pt x="0" y="8381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961700" y="4236564"/>
            <a:ext cx="915922" cy="1002377"/>
          </a:xfrm>
          <a:custGeom>
            <a:avLst/>
            <a:gdLst/>
            <a:ahLst/>
            <a:cxnLst/>
            <a:rect r="r" b="b" t="t" l="l"/>
            <a:pathLst>
              <a:path h="1002377" w="915922">
                <a:moveTo>
                  <a:pt x="0" y="0"/>
                </a:moveTo>
                <a:lnTo>
                  <a:pt x="915922" y="0"/>
                </a:lnTo>
                <a:lnTo>
                  <a:pt x="915922" y="1002376"/>
                </a:lnTo>
                <a:lnTo>
                  <a:pt x="0" y="100237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805992" y="5728814"/>
            <a:ext cx="6264895" cy="3529486"/>
            <a:chOff x="0" y="0"/>
            <a:chExt cx="1788497" cy="100759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88497" cy="1007595"/>
            </a:xfrm>
            <a:custGeom>
              <a:avLst/>
              <a:gdLst/>
              <a:ahLst/>
              <a:cxnLst/>
              <a:rect r="r" b="b" t="t" l="l"/>
              <a:pathLst>
                <a:path h="1007595" w="1788497">
                  <a:moveTo>
                    <a:pt x="44487" y="0"/>
                  </a:moveTo>
                  <a:lnTo>
                    <a:pt x="1744010" y="0"/>
                  </a:lnTo>
                  <a:cubicBezTo>
                    <a:pt x="1755809" y="0"/>
                    <a:pt x="1767124" y="4687"/>
                    <a:pt x="1775467" y="13030"/>
                  </a:cubicBezTo>
                  <a:cubicBezTo>
                    <a:pt x="1783810" y="21373"/>
                    <a:pt x="1788497" y="32689"/>
                    <a:pt x="1788497" y="44487"/>
                  </a:cubicBezTo>
                  <a:lnTo>
                    <a:pt x="1788497" y="963108"/>
                  </a:lnTo>
                  <a:cubicBezTo>
                    <a:pt x="1788497" y="974906"/>
                    <a:pt x="1783810" y="986222"/>
                    <a:pt x="1775467" y="994565"/>
                  </a:cubicBezTo>
                  <a:cubicBezTo>
                    <a:pt x="1767124" y="1002908"/>
                    <a:pt x="1755809" y="1007595"/>
                    <a:pt x="1744010" y="1007595"/>
                  </a:cubicBezTo>
                  <a:lnTo>
                    <a:pt x="44487" y="1007595"/>
                  </a:lnTo>
                  <a:cubicBezTo>
                    <a:pt x="32689" y="1007595"/>
                    <a:pt x="21373" y="1002908"/>
                    <a:pt x="13030" y="994565"/>
                  </a:cubicBezTo>
                  <a:cubicBezTo>
                    <a:pt x="4687" y="986222"/>
                    <a:pt x="0" y="974906"/>
                    <a:pt x="0" y="963108"/>
                  </a:cubicBezTo>
                  <a:lnTo>
                    <a:pt x="0" y="44487"/>
                  </a:lnTo>
                  <a:cubicBezTo>
                    <a:pt x="0" y="32689"/>
                    <a:pt x="4687" y="21373"/>
                    <a:pt x="13030" y="13030"/>
                  </a:cubicBezTo>
                  <a:cubicBezTo>
                    <a:pt x="21373" y="4687"/>
                    <a:pt x="32689" y="0"/>
                    <a:pt x="44487" y="0"/>
                  </a:cubicBezTo>
                  <a:close/>
                </a:path>
              </a:pathLst>
            </a:custGeom>
            <a:blipFill>
              <a:blip r:embed="rId11"/>
              <a:stretch>
                <a:fillRect l="0" t="-8414" r="0" b="-8414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028700" y="641033"/>
            <a:ext cx="6587483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9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ABLATION STUDY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007146" y="2174137"/>
            <a:ext cx="9621524" cy="508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5207">
                <a:solidFill>
                  <a:srgbClr val="FCD35A"/>
                </a:solidFill>
                <a:latin typeface="Norwester"/>
                <a:ea typeface="Norwester"/>
                <a:cs typeface="Norwester"/>
                <a:sym typeface="Norwester"/>
              </a:rPr>
              <a:t>REMOVE</a:t>
            </a:r>
            <a:r>
              <a:rPr lang="en-US" sz="5207">
                <a:solidFill>
                  <a:srgbClr val="FCD35A"/>
                </a:solidFill>
                <a:latin typeface="Norwester"/>
                <a:ea typeface="Norwester"/>
                <a:cs typeface="Norwester"/>
                <a:sym typeface="Norwester"/>
              </a:rPr>
              <a:t> OvR →</a:t>
            </a:r>
            <a:r>
              <a:rPr lang="en-US" sz="5207">
                <a:solidFill>
                  <a:srgbClr val="FCD35A"/>
                </a:solidFill>
                <a:latin typeface="Norwester"/>
                <a:ea typeface="Norwester"/>
                <a:cs typeface="Norwester"/>
                <a:sym typeface="Norwester"/>
              </a:rPr>
              <a:t> DROP</a:t>
            </a:r>
          </a:p>
          <a:p>
            <a:pPr algn="l">
              <a:lnSpc>
                <a:spcPts val="4999"/>
              </a:lnSpc>
            </a:pPr>
            <a:r>
              <a:rPr lang="en-US" sz="5207">
                <a:solidFill>
                  <a:srgbClr val="FCD35A"/>
                </a:solidFill>
                <a:latin typeface="Norwester"/>
                <a:ea typeface="Norwester"/>
                <a:cs typeface="Norwester"/>
                <a:sym typeface="Norwester"/>
              </a:rPr>
              <a:t> REMOVE AMPLIFICATION → DROP</a:t>
            </a:r>
          </a:p>
          <a:p>
            <a:pPr algn="l">
              <a:lnSpc>
                <a:spcPts val="4999"/>
              </a:lnSpc>
            </a:pPr>
            <a:r>
              <a:rPr lang="en-US" sz="5207">
                <a:solidFill>
                  <a:srgbClr val="FCD35A"/>
                </a:solidFill>
                <a:latin typeface="Norwester"/>
                <a:ea typeface="Norwester"/>
                <a:cs typeface="Norwester"/>
                <a:sym typeface="Norwester"/>
              </a:rPr>
              <a:t> REMOVE BOTH → WORST</a:t>
            </a:r>
          </a:p>
          <a:p>
            <a:pPr algn="l">
              <a:lnSpc>
                <a:spcPts val="4999"/>
              </a:lnSpc>
            </a:pPr>
          </a:p>
          <a:p>
            <a:pPr algn="l">
              <a:lnSpc>
                <a:spcPts val="4999"/>
              </a:lnSpc>
            </a:pPr>
          </a:p>
          <a:p>
            <a:pPr algn="l">
              <a:lnSpc>
                <a:spcPts val="4999"/>
              </a:lnSpc>
            </a:pPr>
            <a:r>
              <a:rPr lang="en-US" sz="5207">
                <a:solidFill>
                  <a:srgbClr val="FCD35A"/>
                </a:solidFill>
                <a:latin typeface="Norwester"/>
                <a:ea typeface="Norwester"/>
                <a:cs typeface="Norwester"/>
                <a:sym typeface="Norwester"/>
              </a:rPr>
              <a:t>CONCLUSION:</a:t>
            </a:r>
          </a:p>
          <a:p>
            <a:pPr algn="l">
              <a:lnSpc>
                <a:spcPts val="4999"/>
              </a:lnSpc>
            </a:pPr>
            <a:r>
              <a:rPr lang="en-US" sz="5207">
                <a:solidFill>
                  <a:srgbClr val="FCD35A"/>
                </a:solidFill>
                <a:latin typeface="Norwester"/>
                <a:ea typeface="Norwester"/>
                <a:cs typeface="Norwester"/>
                <a:sym typeface="Norwester"/>
              </a:rPr>
              <a:t> BOTH COMPONENTS NECESSARY</a:t>
            </a:r>
          </a:p>
          <a:p>
            <a:pPr algn="l">
              <a:lnSpc>
                <a:spcPts val="499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25644" y="-6314338"/>
            <a:ext cx="9158822" cy="915882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875832" y="9065067"/>
            <a:ext cx="386466" cy="38646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D35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961700" y="9158584"/>
            <a:ext cx="214731" cy="199431"/>
          </a:xfrm>
          <a:custGeom>
            <a:avLst/>
            <a:gdLst/>
            <a:ahLst/>
            <a:cxnLst/>
            <a:rect r="r" b="b" t="t" l="l"/>
            <a:pathLst>
              <a:path h="199431" w="214731">
                <a:moveTo>
                  <a:pt x="0" y="0"/>
                </a:moveTo>
                <a:lnTo>
                  <a:pt x="214731" y="0"/>
                </a:lnTo>
                <a:lnTo>
                  <a:pt x="214731" y="199432"/>
                </a:lnTo>
                <a:lnTo>
                  <a:pt x="0" y="199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76706" y="314570"/>
            <a:ext cx="5775746" cy="9331221"/>
            <a:chOff x="0" y="0"/>
            <a:chExt cx="1494824" cy="24150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94824" cy="2415019"/>
            </a:xfrm>
            <a:custGeom>
              <a:avLst/>
              <a:gdLst/>
              <a:ahLst/>
              <a:cxnLst/>
              <a:rect r="r" b="b" t="t" l="l"/>
              <a:pathLst>
                <a:path h="2415019" w="1494824">
                  <a:moveTo>
                    <a:pt x="48255" y="0"/>
                  </a:moveTo>
                  <a:lnTo>
                    <a:pt x="1446569" y="0"/>
                  </a:lnTo>
                  <a:cubicBezTo>
                    <a:pt x="1473220" y="0"/>
                    <a:pt x="1494824" y="21605"/>
                    <a:pt x="1494824" y="48255"/>
                  </a:cubicBezTo>
                  <a:lnTo>
                    <a:pt x="1494824" y="2366764"/>
                  </a:lnTo>
                  <a:cubicBezTo>
                    <a:pt x="1494824" y="2393414"/>
                    <a:pt x="1473220" y="2415019"/>
                    <a:pt x="1446569" y="2415019"/>
                  </a:cubicBezTo>
                  <a:lnTo>
                    <a:pt x="48255" y="2415019"/>
                  </a:lnTo>
                  <a:cubicBezTo>
                    <a:pt x="21605" y="2415019"/>
                    <a:pt x="0" y="2393414"/>
                    <a:pt x="0" y="2366764"/>
                  </a:cubicBezTo>
                  <a:lnTo>
                    <a:pt x="0" y="48255"/>
                  </a:lnTo>
                  <a:cubicBezTo>
                    <a:pt x="0" y="21605"/>
                    <a:pt x="21605" y="0"/>
                    <a:pt x="48255" y="0"/>
                  </a:cubicBezTo>
                  <a:close/>
                </a:path>
              </a:pathLst>
            </a:custGeom>
            <a:blipFill>
              <a:blip r:embed="rId4"/>
              <a:stretch>
                <a:fillRect l="-184" t="0" r="-184" b="0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3569697" y="7293165"/>
            <a:ext cx="9158822" cy="915882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862052" y="8779269"/>
            <a:ext cx="1057660" cy="1157494"/>
          </a:xfrm>
          <a:custGeom>
            <a:avLst/>
            <a:gdLst/>
            <a:ahLst/>
            <a:cxnLst/>
            <a:rect r="r" b="b" t="t" l="l"/>
            <a:pathLst>
              <a:path h="1157494" w="1057660">
                <a:moveTo>
                  <a:pt x="0" y="0"/>
                </a:moveTo>
                <a:lnTo>
                  <a:pt x="1057660" y="0"/>
                </a:lnTo>
                <a:lnTo>
                  <a:pt x="1057660" y="1157494"/>
                </a:lnTo>
                <a:lnTo>
                  <a:pt x="0" y="11574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062168" y="8807640"/>
            <a:ext cx="765860" cy="838150"/>
          </a:xfrm>
          <a:custGeom>
            <a:avLst/>
            <a:gdLst/>
            <a:ahLst/>
            <a:cxnLst/>
            <a:rect r="r" b="b" t="t" l="l"/>
            <a:pathLst>
              <a:path h="838150" w="765860">
                <a:moveTo>
                  <a:pt x="0" y="0"/>
                </a:moveTo>
                <a:lnTo>
                  <a:pt x="765860" y="0"/>
                </a:lnTo>
                <a:lnTo>
                  <a:pt x="765860" y="838151"/>
                </a:lnTo>
                <a:lnTo>
                  <a:pt x="0" y="8381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961700" y="4236564"/>
            <a:ext cx="915922" cy="1002377"/>
          </a:xfrm>
          <a:custGeom>
            <a:avLst/>
            <a:gdLst/>
            <a:ahLst/>
            <a:cxnLst/>
            <a:rect r="r" b="b" t="t" l="l"/>
            <a:pathLst>
              <a:path h="1002377" w="915922">
                <a:moveTo>
                  <a:pt x="0" y="0"/>
                </a:moveTo>
                <a:lnTo>
                  <a:pt x="915922" y="0"/>
                </a:lnTo>
                <a:lnTo>
                  <a:pt x="915922" y="1002376"/>
                </a:lnTo>
                <a:lnTo>
                  <a:pt x="0" y="100237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532180" y="246277"/>
            <a:ext cx="6587483" cy="176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9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CONFIDENCE ANALYSIS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54308" y="2665316"/>
            <a:ext cx="9621524" cy="508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5207">
                <a:solidFill>
                  <a:srgbClr val="FCD35A"/>
                </a:solidFill>
                <a:latin typeface="Norwester"/>
                <a:ea typeface="Norwester"/>
                <a:cs typeface="Norwester"/>
                <a:sym typeface="Norwester"/>
              </a:rPr>
              <a:t>BIAS EXPERTS SHOW:</a:t>
            </a:r>
          </a:p>
          <a:p>
            <a:pPr algn="l" marL="1124324" indent="-562162" lvl="1">
              <a:lnSpc>
                <a:spcPts val="4999"/>
              </a:lnSpc>
              <a:buFont typeface="Arial"/>
              <a:buChar char="•"/>
            </a:pPr>
            <a:r>
              <a:rPr lang="en-US" sz="5207">
                <a:solidFill>
                  <a:srgbClr val="FCD35A"/>
                </a:solidFill>
                <a:latin typeface="Norwester"/>
                <a:ea typeface="Norwester"/>
                <a:cs typeface="Norwester"/>
                <a:sym typeface="Norwester"/>
              </a:rPr>
              <a:t>HIGHER CONFIDENCE ON BIASED EXAMPLES</a:t>
            </a:r>
          </a:p>
          <a:p>
            <a:pPr algn="l" marL="1124324" indent="-562162" lvl="1">
              <a:lnSpc>
                <a:spcPts val="4999"/>
              </a:lnSpc>
              <a:buFont typeface="Arial"/>
              <a:buChar char="•"/>
            </a:pPr>
            <a:r>
              <a:rPr lang="en-US" sz="5207">
                <a:solidFill>
                  <a:srgbClr val="FCD35A"/>
                </a:solidFill>
                <a:latin typeface="Norwester"/>
                <a:ea typeface="Norwester"/>
                <a:cs typeface="Norwester"/>
                <a:sym typeface="Norwester"/>
              </a:rPr>
              <a:t>LOWER CONFIDENCE ON BIAS-CONFLICTING EXAMPLES</a:t>
            </a:r>
          </a:p>
          <a:p>
            <a:pPr algn="l">
              <a:lnSpc>
                <a:spcPts val="4999"/>
              </a:lnSpc>
            </a:pPr>
            <a:r>
              <a:rPr lang="en-US" sz="5207">
                <a:solidFill>
                  <a:srgbClr val="FCD35A"/>
                </a:solidFill>
                <a:latin typeface="Norwester"/>
                <a:ea typeface="Norwester"/>
                <a:cs typeface="Norwester"/>
                <a:sym typeface="Norwester"/>
              </a:rPr>
              <a:t>THIS PROVES BETTER BIAS IDENTIFICATION.</a:t>
            </a:r>
          </a:p>
          <a:p>
            <a:pPr algn="l">
              <a:lnSpc>
                <a:spcPts val="499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25644" y="-6314338"/>
            <a:ext cx="9158822" cy="915882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875832" y="9065067"/>
            <a:ext cx="386466" cy="38646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D35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961700" y="9158584"/>
            <a:ext cx="214731" cy="199431"/>
          </a:xfrm>
          <a:custGeom>
            <a:avLst/>
            <a:gdLst/>
            <a:ahLst/>
            <a:cxnLst/>
            <a:rect r="r" b="b" t="t" l="l"/>
            <a:pathLst>
              <a:path h="199431" w="214731">
                <a:moveTo>
                  <a:pt x="0" y="0"/>
                </a:moveTo>
                <a:lnTo>
                  <a:pt x="214731" y="0"/>
                </a:lnTo>
                <a:lnTo>
                  <a:pt x="214731" y="199432"/>
                </a:lnTo>
                <a:lnTo>
                  <a:pt x="0" y="199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509889" y="1293614"/>
            <a:ext cx="8322486" cy="5822769"/>
            <a:chOff x="0" y="0"/>
            <a:chExt cx="3451787" cy="24150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51787" cy="2415019"/>
            </a:xfrm>
            <a:custGeom>
              <a:avLst/>
              <a:gdLst/>
              <a:ahLst/>
              <a:cxnLst/>
              <a:rect r="r" b="b" t="t" l="l"/>
              <a:pathLst>
                <a:path h="2415019" w="3451787">
                  <a:moveTo>
                    <a:pt x="33489" y="0"/>
                  </a:moveTo>
                  <a:lnTo>
                    <a:pt x="3418298" y="0"/>
                  </a:lnTo>
                  <a:cubicBezTo>
                    <a:pt x="3436794" y="0"/>
                    <a:pt x="3451787" y="14993"/>
                    <a:pt x="3451787" y="33489"/>
                  </a:cubicBezTo>
                  <a:lnTo>
                    <a:pt x="3451787" y="2381530"/>
                  </a:lnTo>
                  <a:cubicBezTo>
                    <a:pt x="3451787" y="2400025"/>
                    <a:pt x="3436794" y="2415019"/>
                    <a:pt x="3418298" y="2415019"/>
                  </a:cubicBezTo>
                  <a:lnTo>
                    <a:pt x="33489" y="2415019"/>
                  </a:lnTo>
                  <a:cubicBezTo>
                    <a:pt x="14993" y="2415019"/>
                    <a:pt x="0" y="2400025"/>
                    <a:pt x="0" y="2381530"/>
                  </a:cubicBezTo>
                  <a:lnTo>
                    <a:pt x="0" y="33489"/>
                  </a:lnTo>
                  <a:cubicBezTo>
                    <a:pt x="0" y="14993"/>
                    <a:pt x="14993" y="0"/>
                    <a:pt x="33489" y="0"/>
                  </a:cubicBezTo>
                  <a:close/>
                </a:path>
              </a:pathLst>
            </a:custGeom>
            <a:blipFill>
              <a:blip r:embed="rId4"/>
              <a:stretch>
                <a:fillRect l="-183" t="0" r="-183" b="0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3569697" y="7293165"/>
            <a:ext cx="9158822" cy="915882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862052" y="8779269"/>
            <a:ext cx="1057660" cy="1157494"/>
          </a:xfrm>
          <a:custGeom>
            <a:avLst/>
            <a:gdLst/>
            <a:ahLst/>
            <a:cxnLst/>
            <a:rect r="r" b="b" t="t" l="l"/>
            <a:pathLst>
              <a:path h="1157494" w="1057660">
                <a:moveTo>
                  <a:pt x="0" y="0"/>
                </a:moveTo>
                <a:lnTo>
                  <a:pt x="1057660" y="0"/>
                </a:lnTo>
                <a:lnTo>
                  <a:pt x="1057660" y="1157494"/>
                </a:lnTo>
                <a:lnTo>
                  <a:pt x="0" y="11574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062168" y="8807640"/>
            <a:ext cx="765860" cy="838150"/>
          </a:xfrm>
          <a:custGeom>
            <a:avLst/>
            <a:gdLst/>
            <a:ahLst/>
            <a:cxnLst/>
            <a:rect r="r" b="b" t="t" l="l"/>
            <a:pathLst>
              <a:path h="838150" w="765860">
                <a:moveTo>
                  <a:pt x="0" y="0"/>
                </a:moveTo>
                <a:lnTo>
                  <a:pt x="765860" y="0"/>
                </a:lnTo>
                <a:lnTo>
                  <a:pt x="765860" y="838151"/>
                </a:lnTo>
                <a:lnTo>
                  <a:pt x="0" y="8381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961700" y="4236564"/>
            <a:ext cx="915922" cy="1002377"/>
          </a:xfrm>
          <a:custGeom>
            <a:avLst/>
            <a:gdLst/>
            <a:ahLst/>
            <a:cxnLst/>
            <a:rect r="r" b="b" t="t" l="l"/>
            <a:pathLst>
              <a:path h="1002377" w="915922">
                <a:moveTo>
                  <a:pt x="0" y="0"/>
                </a:moveTo>
                <a:lnTo>
                  <a:pt x="915922" y="0"/>
                </a:lnTo>
                <a:lnTo>
                  <a:pt x="915922" y="1002376"/>
                </a:lnTo>
                <a:lnTo>
                  <a:pt x="0" y="100237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481583" y="1436489"/>
            <a:ext cx="6587483" cy="176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9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GENERALIZATION TO VISION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47012" y="7643621"/>
            <a:ext cx="12122684" cy="129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5207">
                <a:solidFill>
                  <a:srgbClr val="FCD35A"/>
                </a:solidFill>
                <a:latin typeface="Norwester"/>
                <a:ea typeface="Norwester"/>
                <a:cs typeface="Norwester"/>
                <a:sym typeface="Norwester"/>
              </a:rPr>
              <a:t>TESTED ON BAR AND NICO (IMAGE DATASETS)</a:t>
            </a:r>
          </a:p>
          <a:p>
            <a:pPr algn="l">
              <a:lnSpc>
                <a:spcPts val="4999"/>
              </a:lnSpc>
            </a:pPr>
            <a:r>
              <a:rPr lang="en-US" sz="5207">
                <a:solidFill>
                  <a:srgbClr val="FCD35A"/>
                </a:solidFill>
                <a:latin typeface="Norwester"/>
                <a:ea typeface="Norwester"/>
                <a:cs typeface="Norwester"/>
                <a:sym typeface="Norwester"/>
              </a:rPr>
              <a:t> SH</a:t>
            </a:r>
            <a:r>
              <a:rPr lang="en-US" sz="5207">
                <a:solidFill>
                  <a:srgbClr val="FCD35A"/>
                </a:solidFill>
                <a:latin typeface="Norwester"/>
                <a:ea typeface="Norwester"/>
                <a:cs typeface="Norwester"/>
                <a:sym typeface="Norwester"/>
              </a:rPr>
              <a:t>OWS MODEL-AGNOSTIC PROPERTY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71135" y="8070650"/>
            <a:ext cx="9158822" cy="915882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875832" y="9065067"/>
            <a:ext cx="386466" cy="38646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D35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961700" y="9158584"/>
            <a:ext cx="214731" cy="199431"/>
          </a:xfrm>
          <a:custGeom>
            <a:avLst/>
            <a:gdLst/>
            <a:ahLst/>
            <a:cxnLst/>
            <a:rect r="r" b="b" t="t" l="l"/>
            <a:pathLst>
              <a:path h="199431" w="214731">
                <a:moveTo>
                  <a:pt x="0" y="0"/>
                </a:moveTo>
                <a:lnTo>
                  <a:pt x="214731" y="0"/>
                </a:lnTo>
                <a:lnTo>
                  <a:pt x="214731" y="199432"/>
                </a:lnTo>
                <a:lnTo>
                  <a:pt x="0" y="199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0" y="4672300"/>
            <a:ext cx="18288000" cy="0"/>
          </a:xfrm>
          <a:prstGeom prst="line">
            <a:avLst/>
          </a:prstGeom>
          <a:ln cap="flat" w="38100">
            <a:solidFill>
              <a:srgbClr val="FFFFFF">
                <a:alpha val="47843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2347974" y="4140261"/>
            <a:ext cx="1064077" cy="106407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D35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611962" y="4140261"/>
            <a:ext cx="1064077" cy="106407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A36E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47261" y="4140261"/>
            <a:ext cx="1064077" cy="1064077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-3915468" y="-7202831"/>
            <a:ext cx="9158822" cy="915882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4618716" y="1668523"/>
            <a:ext cx="9783543" cy="1106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1"/>
              </a:lnSpc>
            </a:pPr>
            <a:r>
              <a:rPr lang="en-US" sz="849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CRITICAL EVALUATION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74027" y="5596214"/>
            <a:ext cx="5136580" cy="2846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70"/>
              </a:lnSpc>
            </a:pPr>
            <a:r>
              <a:rPr lang="en-US" sz="2733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STRENGTHS</a:t>
            </a:r>
          </a:p>
          <a:p>
            <a:pPr algn="just" marL="590187" indent="-295094" lvl="1">
              <a:lnSpc>
                <a:spcPts val="2870"/>
              </a:lnSpc>
              <a:buFont typeface="Arial"/>
              <a:buChar char="•"/>
            </a:pPr>
            <a:r>
              <a:rPr lang="en-US" sz="2733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IDENTIFIES STRUCTURAL FLAW IN MULTI-CLASS TRAINING</a:t>
            </a:r>
          </a:p>
          <a:p>
            <a:pPr algn="just" marL="590187" indent="-295094" lvl="1">
              <a:lnSpc>
                <a:spcPts val="2870"/>
              </a:lnSpc>
              <a:buFont typeface="Arial"/>
              <a:buChar char="•"/>
            </a:pPr>
            <a:r>
              <a:rPr lang="en-US" sz="2733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MODULAR ARCHITECTURE</a:t>
            </a:r>
          </a:p>
          <a:p>
            <a:pPr algn="just" marL="590187" indent="-295094" lvl="1">
              <a:lnSpc>
                <a:spcPts val="2870"/>
              </a:lnSpc>
              <a:buFont typeface="Arial"/>
              <a:buChar char="•"/>
            </a:pPr>
            <a:r>
              <a:rPr lang="en-US" sz="2733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WORKS WITHOUT EXPLICIT BIAS LABELS</a:t>
            </a:r>
          </a:p>
          <a:p>
            <a:pPr algn="just" marL="590187" indent="-295094" lvl="1">
              <a:lnSpc>
                <a:spcPts val="2870"/>
              </a:lnSpc>
              <a:buFont typeface="Arial"/>
              <a:buChar char="•"/>
            </a:pPr>
            <a:r>
              <a:rPr lang="en-US" sz="2733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MODEL-AGNOSTIC</a:t>
            </a:r>
          </a:p>
          <a:p>
            <a:pPr algn="just">
              <a:lnSpc>
                <a:spcPts val="2870"/>
              </a:lnSpc>
            </a:pP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9676038" y="8779269"/>
            <a:ext cx="1057660" cy="1157494"/>
          </a:xfrm>
          <a:custGeom>
            <a:avLst/>
            <a:gdLst/>
            <a:ahLst/>
            <a:cxnLst/>
            <a:rect r="r" b="b" t="t" l="l"/>
            <a:pathLst>
              <a:path h="1157494" w="1057660">
                <a:moveTo>
                  <a:pt x="0" y="0"/>
                </a:moveTo>
                <a:lnTo>
                  <a:pt x="1057660" y="0"/>
                </a:lnTo>
                <a:lnTo>
                  <a:pt x="1057660" y="1157494"/>
                </a:lnTo>
                <a:lnTo>
                  <a:pt x="0" y="11574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6515774" y="2273403"/>
            <a:ext cx="765860" cy="838150"/>
          </a:xfrm>
          <a:custGeom>
            <a:avLst/>
            <a:gdLst/>
            <a:ahLst/>
            <a:cxnLst/>
            <a:rect r="r" b="b" t="t" l="l"/>
            <a:pathLst>
              <a:path h="838150" w="765860">
                <a:moveTo>
                  <a:pt x="0" y="0"/>
                </a:moveTo>
                <a:lnTo>
                  <a:pt x="765859" y="0"/>
                </a:lnTo>
                <a:lnTo>
                  <a:pt x="765859" y="838151"/>
                </a:lnTo>
                <a:lnTo>
                  <a:pt x="0" y="8381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878638" y="2273403"/>
            <a:ext cx="915922" cy="1002377"/>
          </a:xfrm>
          <a:custGeom>
            <a:avLst/>
            <a:gdLst/>
            <a:ahLst/>
            <a:cxnLst/>
            <a:rect r="r" b="b" t="t" l="l"/>
            <a:pathLst>
              <a:path h="1002377" w="915922">
                <a:moveTo>
                  <a:pt x="0" y="0"/>
                </a:moveTo>
                <a:lnTo>
                  <a:pt x="915922" y="0"/>
                </a:lnTo>
                <a:lnTo>
                  <a:pt x="915922" y="1002377"/>
                </a:lnTo>
                <a:lnTo>
                  <a:pt x="0" y="10023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7352666" y="5586689"/>
            <a:ext cx="4315644" cy="4219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2"/>
              </a:lnSpc>
            </a:pPr>
            <a:r>
              <a:rPr lang="en-US" sz="2868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WEAKNESSES (FROM LIMITATIONS SECTION) IMPROVING BIAS MITIGATION THROU…</a:t>
            </a:r>
          </a:p>
          <a:p>
            <a:pPr algn="l" marL="619372" indent="-309686" lvl="1">
              <a:lnSpc>
                <a:spcPts val="3012"/>
              </a:lnSpc>
              <a:buFont typeface="Arial"/>
              <a:buChar char="•"/>
            </a:pPr>
            <a:r>
              <a:rPr lang="en-US" sz="2868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MEMORY</a:t>
            </a:r>
            <a:r>
              <a:rPr lang="en-US" sz="2868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 SCALES WITH NUMBER OF CLASSES</a:t>
            </a:r>
          </a:p>
          <a:p>
            <a:pPr algn="l" marL="619372" indent="-309686" lvl="1">
              <a:lnSpc>
                <a:spcPts val="3012"/>
              </a:lnSpc>
              <a:buFont typeface="Arial"/>
              <a:buChar char="•"/>
            </a:pPr>
            <a:r>
              <a:rPr lang="en-US" sz="2868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HYPERPARAMETER Α TUNING NEEDED</a:t>
            </a:r>
          </a:p>
          <a:p>
            <a:pPr algn="l" marL="619372" indent="-309686" lvl="1">
              <a:lnSpc>
                <a:spcPts val="3012"/>
              </a:lnSpc>
              <a:buFont typeface="Arial"/>
              <a:buChar char="•"/>
            </a:pPr>
            <a:r>
              <a:rPr lang="en-US" sz="2868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SLIGHT ID PERFORMANCE TRADE-OFF</a:t>
            </a:r>
          </a:p>
          <a:p>
            <a:pPr algn="l">
              <a:lnSpc>
                <a:spcPts val="3012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3410368" y="5586689"/>
            <a:ext cx="4315644" cy="1932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2"/>
              </a:lnSpc>
            </a:pPr>
            <a:r>
              <a:rPr lang="en-US" sz="2868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ETHICS </a:t>
            </a:r>
          </a:p>
          <a:p>
            <a:pPr algn="l">
              <a:lnSpc>
                <a:spcPts val="3012"/>
              </a:lnSpc>
            </a:pPr>
            <a:r>
              <a:rPr lang="en-US" sz="2868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TRADE-OFF BETWEEN MINORITY ROBUSTNESS AND MAJORITY PERFORMANCE</a:t>
            </a:r>
          </a:p>
          <a:p>
            <a:pPr algn="l">
              <a:lnSpc>
                <a:spcPts val="3012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08589" y="6840075"/>
            <a:ext cx="9158822" cy="915882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875832" y="9065067"/>
            <a:ext cx="386466" cy="38646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D35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961700" y="9158584"/>
            <a:ext cx="214731" cy="199431"/>
          </a:xfrm>
          <a:custGeom>
            <a:avLst/>
            <a:gdLst/>
            <a:ahLst/>
            <a:cxnLst/>
            <a:rect r="r" b="b" t="t" l="l"/>
            <a:pathLst>
              <a:path h="199431" w="214731">
                <a:moveTo>
                  <a:pt x="0" y="0"/>
                </a:moveTo>
                <a:lnTo>
                  <a:pt x="214731" y="0"/>
                </a:lnTo>
                <a:lnTo>
                  <a:pt x="214731" y="199432"/>
                </a:lnTo>
                <a:lnTo>
                  <a:pt x="0" y="199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88187" y="2251069"/>
            <a:ext cx="16929327" cy="2780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80"/>
              </a:lnSpc>
            </a:pPr>
            <a:r>
              <a:rPr lang="en-US" sz="21541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THANK YOU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0" y="2818972"/>
            <a:ext cx="18288000" cy="2212764"/>
            <a:chOff x="0" y="0"/>
            <a:chExt cx="4212213" cy="50965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12213" cy="509658"/>
            </a:xfrm>
            <a:custGeom>
              <a:avLst/>
              <a:gdLst/>
              <a:ahLst/>
              <a:cxnLst/>
              <a:rect r="r" b="b" t="t" l="l"/>
              <a:pathLst>
                <a:path h="509658" w="4212213">
                  <a:moveTo>
                    <a:pt x="0" y="0"/>
                  </a:moveTo>
                  <a:lnTo>
                    <a:pt x="4212213" y="0"/>
                  </a:lnTo>
                  <a:lnTo>
                    <a:pt x="4212213" y="509658"/>
                  </a:lnTo>
                  <a:lnTo>
                    <a:pt x="0" y="509658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50000">
                  <a:srgbClr val="000000">
                    <a:alpha val="675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212213" cy="547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5688802" y="-4127086"/>
            <a:ext cx="9158822" cy="915882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852850" y="8872786"/>
            <a:ext cx="1057660" cy="1157494"/>
          </a:xfrm>
          <a:custGeom>
            <a:avLst/>
            <a:gdLst/>
            <a:ahLst/>
            <a:cxnLst/>
            <a:rect r="r" b="b" t="t" l="l"/>
            <a:pathLst>
              <a:path h="1157494" w="1057660">
                <a:moveTo>
                  <a:pt x="0" y="0"/>
                </a:moveTo>
                <a:lnTo>
                  <a:pt x="1057660" y="0"/>
                </a:lnTo>
                <a:lnTo>
                  <a:pt x="1057660" y="1157494"/>
                </a:lnTo>
                <a:lnTo>
                  <a:pt x="0" y="11574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11630" y="2818972"/>
            <a:ext cx="765860" cy="838150"/>
          </a:xfrm>
          <a:custGeom>
            <a:avLst/>
            <a:gdLst/>
            <a:ahLst/>
            <a:cxnLst/>
            <a:rect r="r" b="b" t="t" l="l"/>
            <a:pathLst>
              <a:path h="838150" w="765860">
                <a:moveTo>
                  <a:pt x="0" y="0"/>
                </a:moveTo>
                <a:lnTo>
                  <a:pt x="765860" y="0"/>
                </a:lnTo>
                <a:lnTo>
                  <a:pt x="765860" y="838151"/>
                </a:lnTo>
                <a:lnTo>
                  <a:pt x="0" y="8381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718470" y="1755769"/>
            <a:ext cx="915922" cy="1002377"/>
          </a:xfrm>
          <a:custGeom>
            <a:avLst/>
            <a:gdLst/>
            <a:ahLst/>
            <a:cxnLst/>
            <a:rect r="r" b="b" t="t" l="l"/>
            <a:pathLst>
              <a:path h="1002377" w="915922">
                <a:moveTo>
                  <a:pt x="0" y="0"/>
                </a:moveTo>
                <a:lnTo>
                  <a:pt x="915922" y="0"/>
                </a:lnTo>
                <a:lnTo>
                  <a:pt x="915922" y="1002377"/>
                </a:lnTo>
                <a:lnTo>
                  <a:pt x="0" y="10023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DAHBJOojDJ8</dc:identifier>
  <dcterms:modified xsi:type="dcterms:W3CDTF">2011-08-01T06:04:30Z</dcterms:modified>
  <cp:revision>1</cp:revision>
  <dc:title>Improving Bias Mitigation</dc:title>
</cp:coreProperties>
</file>